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10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charts/chart7.xml" ContentType="application/vnd.openxmlformats-officedocument.drawingml.chart+xml"/>
  <Override PartName="/ppt/charts/chart8.xml" ContentType="application/vnd.openxmlformats-officedocument.drawingml.chart+xml"/>
  <Override PartName="/ppt/charts/chart9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_rels/chart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4.xlsx"/></Relationships>
</file>

<file path=ppt/charts/_rels/chart5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5.xlsx"/></Relationships>
</file>

<file path=ppt/charts/_rels/chart6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6.xlsx"/></Relationships>
</file>

<file path=ppt/charts/_rels/chart7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7.xlsx"/></Relationships>
</file>

<file path=ppt/charts/_rels/chart8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8.xlsx"/></Relationships>
</file>

<file path=ppt/charts/_rels/chart9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9.xlsx"/></Relationships>
</file>

<file path=ppt/charts/_rels/chart10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0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Total</c:v>
                </c:pt>
              </c:strCache>
            </c:strRef>
          </c:tx>
          <c:spPr>
            <a:solidFill>
              <a:srgbClr val="1F5F52"/>
            </a:solidFill>
          </c:spPr>
          <c:cat>
            <c:strRef>
              <c:f>Sheet1!$A$2:$A$6</c:f>
              <c:strCache>
                <c:ptCount val="5"/>
                <c:pt idx="0">
                  <c:v>Mar</c:v>
                </c:pt>
                <c:pt idx="1">
                  <c:v>Mai</c:v>
                </c:pt>
                <c:pt idx="2">
                  <c:v>Jun</c:v>
                </c:pt>
                <c:pt idx="3">
                  <c:v>Jul</c:v>
                </c:pt>
                <c:pt idx="4">
                  <c:v>Ago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</c:v>
                </c:pt>
                <c:pt idx="1">
                  <c:v>1</c:v>
                </c:pt>
                <c:pt idx="2">
                  <c:v>2</c:v>
                </c:pt>
                <c:pt idx="3">
                  <c:v>4</c:v>
                </c:pt>
                <c:pt idx="4">
                  <c:v>8</c:v>
                </c:pt>
              </c:numCache>
            </c:numRef>
          </c:val>
        </c:ser>
        <c:gapWidth val="7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0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>
          <c:spPr>
            <a:ln>
              <a:solidFill>
                <a:srgbClr val="E0E5E1"/>
              </a:solidFill>
            </a:ln>
          </c:spPr>
        </c:majorGridlines>
        <c:majorTickMark val="out"/>
        <c:minorTickMark val="none"/>
        <c:tickLblPos val="nextTo"/>
        <c:txPr>
          <a:bodyPr/>
          <a:lstStyle/>
          <a:p>
            <a:pPr>
              <a:defRPr sz="1000"/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Total</c:v>
                </c:pt>
              </c:strCache>
            </c:strRef>
          </c:tx>
          <c:spPr>
            <a:solidFill>
              <a:srgbClr val="1F5F52"/>
            </a:solidFill>
          </c:spPr>
          <c:cat>
            <c:strRef>
              <c:f>Sheet1!$A$2:$A$2</c:f>
              <c:strCache>
                <c:ptCount val="1"/>
                <c:pt idx="0">
                  <c:v>Ago</c:v>
                </c:pt>
              </c:strCache>
            </c:strRef>
          </c:cat>
          <c:val>
            <c:numRef>
              <c:f>Sheet1!$B$2:$B$2</c:f>
              <c:numCache>
                <c:formatCode>General</c:formatCode>
                <c:ptCount val="1"/>
                <c:pt idx="0">
                  <c:v>8</c:v>
                </c:pt>
              </c:numCache>
            </c:numRef>
          </c:val>
        </c:ser>
        <c:gapWidth val="7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0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>
          <c:spPr>
            <a:ln>
              <a:solidFill>
                <a:srgbClr val="E0E5E1"/>
              </a:solidFill>
            </a:ln>
          </c:spPr>
        </c:majorGridlines>
        <c:majorTickMark val="out"/>
        <c:minorTickMark val="none"/>
        <c:tickLblPos val="nextTo"/>
        <c:txPr>
          <a:bodyPr/>
          <a:lstStyle/>
          <a:p>
            <a:pPr>
              <a:defRPr sz="1000"/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Total</c:v>
                </c:pt>
              </c:strCache>
            </c:strRef>
          </c:tx>
          <c:spPr>
            <a:solidFill>
              <a:srgbClr val="1F5F52"/>
            </a:solidFill>
          </c:spPr>
          <c:cat>
            <c:strRef>
              <c:f>Sheet1!$A$2:$A$2</c:f>
              <c:strCache>
                <c:ptCount val="1"/>
                <c:pt idx="0">
                  <c:v>Ago</c:v>
                </c:pt>
              </c:strCache>
            </c:strRef>
          </c:cat>
          <c:val>
            <c:numRef>
              <c:f>Sheet1!$B$2:$B$2</c:f>
              <c:numCache>
                <c:formatCode>General</c:formatCode>
                <c:ptCount val="1"/>
                <c:pt idx="0">
                  <c:v>3</c:v>
                </c:pt>
              </c:numCache>
            </c:numRef>
          </c:val>
        </c:ser>
        <c:gapWidth val="7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0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>
          <c:spPr>
            <a:ln>
              <a:solidFill>
                <a:srgbClr val="E0E5E1"/>
              </a:solidFill>
            </a:ln>
          </c:spPr>
        </c:majorGridlines>
        <c:majorTickMark val="out"/>
        <c:minorTickMark val="none"/>
        <c:tickLblPos val="nextTo"/>
        <c:txPr>
          <a:bodyPr/>
          <a:lstStyle/>
          <a:p>
            <a:pPr>
              <a:defRPr sz="1000"/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Total</c:v>
                </c:pt>
              </c:strCache>
            </c:strRef>
          </c:tx>
          <c:spPr>
            <a:solidFill>
              <a:srgbClr val="1F5F52"/>
            </a:solidFill>
          </c:spPr>
          <c:cat>
            <c:strRef>
              <c:f>Sheet1!$A$2:$A$2</c:f>
              <c:strCache>
                <c:ptCount val="1"/>
                <c:pt idx="0">
                  <c:v>Ago</c:v>
                </c:pt>
              </c:strCache>
            </c:strRef>
          </c:cat>
          <c:val>
            <c:numRef>
              <c:f>Sheet1!$B$2:$B$2</c:f>
              <c:numCache>
                <c:formatCode>General</c:formatCode>
                <c:ptCount val="1"/>
                <c:pt idx="0">
                  <c:v>7</c:v>
                </c:pt>
              </c:numCache>
            </c:numRef>
          </c:val>
        </c:ser>
        <c:gapWidth val="7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0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>
          <c:spPr>
            <a:ln>
              <a:solidFill>
                <a:srgbClr val="E0E5E1"/>
              </a:solidFill>
            </a:ln>
          </c:spPr>
        </c:majorGridlines>
        <c:majorTickMark val="out"/>
        <c:minorTickMark val="none"/>
        <c:tickLblPos val="nextTo"/>
        <c:txPr>
          <a:bodyPr/>
          <a:lstStyle/>
          <a:p>
            <a:pPr>
              <a:defRPr sz="1000"/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Total</c:v>
                </c:pt>
              </c:strCache>
            </c:strRef>
          </c:tx>
          <c:spPr>
            <a:solidFill>
              <a:srgbClr val="1F5F52"/>
            </a:solidFill>
          </c:spPr>
          <c:cat>
            <c:strRef>
              <c:f>Sheet1!$A$2:$A$2</c:f>
              <c:strCache>
                <c:ptCount val="1"/>
                <c:pt idx="0">
                  <c:v>Ago</c:v>
                </c:pt>
              </c:strCache>
            </c:strRef>
          </c:cat>
          <c:val>
            <c:numRef>
              <c:f>Sheet1!$B$2:$B$2</c:f>
              <c:numCache>
                <c:formatCode>General</c:formatCode>
                <c:ptCount val="1"/>
                <c:pt idx="0">
                  <c:v>8</c:v>
                </c:pt>
              </c:numCache>
            </c:numRef>
          </c:val>
        </c:ser>
        <c:gapWidth val="7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0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>
          <c:spPr>
            <a:ln>
              <a:solidFill>
                <a:srgbClr val="E0E5E1"/>
              </a:solidFill>
            </a:ln>
          </c:spPr>
        </c:majorGridlines>
        <c:majorTickMark val="out"/>
        <c:minorTickMark val="none"/>
        <c:tickLblPos val="nextTo"/>
        <c:txPr>
          <a:bodyPr/>
          <a:lstStyle/>
          <a:p>
            <a:pPr>
              <a:defRPr sz="1000"/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Total</c:v>
                </c:pt>
              </c:strCache>
            </c:strRef>
          </c:tx>
          <c:spPr>
            <a:solidFill>
              <a:srgbClr val="1F5F52"/>
            </a:solidFill>
          </c:spPr>
          <c:cat>
            <c:strRef>
              <c:f>Sheet1!$A$2:$A$5</c:f>
              <c:strCache>
                <c:ptCount val="4"/>
                <c:pt idx="0">
                  <c:v>Mai</c:v>
                </c:pt>
                <c:pt idx="1">
                  <c:v>Jun</c:v>
                </c:pt>
                <c:pt idx="2">
                  <c:v>Jul</c:v>
                </c:pt>
                <c:pt idx="3">
                  <c:v>Ago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</c:v>
                </c:pt>
                <c:pt idx="1">
                  <c:v>2</c:v>
                </c:pt>
                <c:pt idx="2">
                  <c:v>1</c:v>
                </c:pt>
                <c:pt idx="3">
                  <c:v>5</c:v>
                </c:pt>
              </c:numCache>
            </c:numRef>
          </c:val>
        </c:ser>
        <c:gapWidth val="7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0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>
          <c:spPr>
            <a:ln>
              <a:solidFill>
                <a:srgbClr val="E0E5E1"/>
              </a:solidFill>
            </a:ln>
          </c:spPr>
        </c:majorGridlines>
        <c:majorTickMark val="out"/>
        <c:minorTickMark val="none"/>
        <c:tickLblPos val="nextTo"/>
        <c:txPr>
          <a:bodyPr/>
          <a:lstStyle/>
          <a:p>
            <a:pPr>
              <a:defRPr sz="1000"/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Total</c:v>
                </c:pt>
              </c:strCache>
            </c:strRef>
          </c:tx>
          <c:spPr>
            <a:solidFill>
              <a:srgbClr val="1F5F52"/>
            </a:solidFill>
          </c:spPr>
          <c:cat>
            <c:strRef>
              <c:f>Sheet1!$A$2:$A$5</c:f>
              <c:strCache>
                <c:ptCount val="4"/>
                <c:pt idx="0">
                  <c:v>Mai</c:v>
                </c:pt>
                <c:pt idx="1">
                  <c:v>Jun</c:v>
                </c:pt>
                <c:pt idx="2">
                  <c:v>Jul</c:v>
                </c:pt>
                <c:pt idx="3">
                  <c:v>Ago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2912.2</c:v>
                </c:pt>
                <c:pt idx="1">
                  <c:v>4453.2</c:v>
                </c:pt>
                <c:pt idx="2">
                  <c:v>2846.4</c:v>
                </c:pt>
                <c:pt idx="3">
                  <c:v>7354.1</c:v>
                </c:pt>
              </c:numCache>
            </c:numRef>
          </c:val>
        </c:ser>
        <c:gapWidth val="7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0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>
          <c:spPr>
            <a:ln>
              <a:solidFill>
                <a:srgbClr val="E0E5E1"/>
              </a:solidFill>
            </a:ln>
          </c:spPr>
        </c:majorGridlines>
        <c:majorTickMark val="out"/>
        <c:minorTickMark val="none"/>
        <c:tickLblPos val="nextTo"/>
        <c:txPr>
          <a:bodyPr/>
          <a:lstStyle/>
          <a:p>
            <a:pPr>
              <a:defRPr sz="1000"/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Total</c:v>
                </c:pt>
              </c:strCache>
            </c:strRef>
          </c:tx>
          <c:spPr>
            <a:solidFill>
              <a:srgbClr val="1F5F52"/>
            </a:solidFill>
          </c:spPr>
          <c:cat>
            <c:strRef>
              <c:f>Sheet1!$A$2:$A$3</c:f>
              <c:strCache>
                <c:ptCount val="2"/>
                <c:pt idx="0">
                  <c:v>Jul</c:v>
                </c:pt>
                <c:pt idx="1">
                  <c:v>Ago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</c:v>
                </c:pt>
                <c:pt idx="1">
                  <c:v>6</c:v>
                </c:pt>
              </c:numCache>
            </c:numRef>
          </c:val>
        </c:ser>
        <c:gapWidth val="7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0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>
          <c:spPr>
            <a:ln>
              <a:solidFill>
                <a:srgbClr val="E0E5E1"/>
              </a:solidFill>
            </a:ln>
          </c:spPr>
        </c:majorGridlines>
        <c:majorTickMark val="out"/>
        <c:minorTickMark val="none"/>
        <c:tickLblPos val="nextTo"/>
        <c:txPr>
          <a:bodyPr/>
          <a:lstStyle/>
          <a:p>
            <a:pPr>
              <a:defRPr sz="1000"/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Total</c:v>
                </c:pt>
              </c:strCache>
            </c:strRef>
          </c:tx>
          <c:spPr>
            <a:solidFill>
              <a:srgbClr val="1F5F52"/>
            </a:solidFill>
          </c:spPr>
          <c:cat>
            <c:strRef>
              <c:f>Sheet1!$A$2:$A$2</c:f>
              <c:strCache>
                <c:ptCount val="1"/>
                <c:pt idx="0">
                  <c:v>Ago</c:v>
                </c:pt>
              </c:strCache>
            </c:strRef>
          </c:cat>
          <c:val>
            <c:numRef>
              <c:f>Sheet1!$B$2:$B$2</c:f>
              <c:numCache>
                <c:formatCode>General</c:formatCode>
                <c:ptCount val="1"/>
                <c:pt idx="0">
                  <c:v>8</c:v>
                </c:pt>
              </c:numCache>
            </c:numRef>
          </c:val>
        </c:ser>
        <c:gapWidth val="7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0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>
          <c:spPr>
            <a:ln>
              <a:solidFill>
                <a:srgbClr val="E0E5E1"/>
              </a:solidFill>
            </a:ln>
          </c:spPr>
        </c:majorGridlines>
        <c:majorTickMark val="out"/>
        <c:minorTickMark val="none"/>
        <c:tickLblPos val="nextTo"/>
        <c:txPr>
          <a:bodyPr/>
          <a:lstStyle/>
          <a:p>
            <a:pPr>
              <a:defRPr sz="1000"/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10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Total</c:v>
                </c:pt>
              </c:strCache>
            </c:strRef>
          </c:tx>
          <c:spPr>
            <a:solidFill>
              <a:srgbClr val="1F5F52"/>
            </a:solidFill>
          </c:spPr>
          <c:cat>
            <c:strRef>
              <c:f>Sheet1!$A$2:$A$2</c:f>
              <c:strCache>
                <c:ptCount val="1"/>
                <c:pt idx="0">
                  <c:v>Ago</c:v>
                </c:pt>
              </c:strCache>
            </c:strRef>
          </c:cat>
          <c:val>
            <c:numRef>
              <c:f>Sheet1!$B$2:$B$2</c:f>
              <c:numCache>
                <c:formatCode>General</c:formatCode>
                <c:ptCount val="1"/>
                <c:pt idx="0">
                  <c:v>6</c:v>
                </c:pt>
              </c:numCache>
            </c:numRef>
          </c:val>
        </c:ser>
        <c:gapWidth val="7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0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>
          <c:spPr>
            <a:ln>
              <a:solidFill>
                <a:srgbClr val="E0E5E1"/>
              </a:solidFill>
            </a:ln>
          </c:spPr>
        </c:majorGridlines>
        <c:majorTickMark val="out"/>
        <c:minorTickMark val="none"/>
        <c:tickLblPos val="nextTo"/>
        <c:txPr>
          <a:bodyPr/>
          <a:lstStyle/>
          <a:p>
            <a:pPr>
              <a:defRPr sz="1000"/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3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4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5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6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8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9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0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-91440" y="-91440"/>
            <a:ext cx="12374575" cy="7040880"/>
          </a:xfrm>
          <a:prstGeom prst="roundRect">
            <a:avLst>
              <a:gd name="adj" fmla="val 3000"/>
            </a:avLst>
          </a:prstGeom>
          <a:solidFill>
            <a:srgbClr val="1F5F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05840" y="2148840"/>
            <a:ext cx="91440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BFD8CF"/>
                </a:solidFill>
                <a:latin typeface="Calibri"/>
              </a:rPr>
              <a:t>HEALTHMAIS · ATENDIMENTO DOMICILIAR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" y="2578608"/>
            <a:ext cx="10058400" cy="1005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4600" b="1">
                <a:solidFill>
                  <a:srgbClr val="FFFFFF"/>
                </a:solidFill>
                <a:latin typeface="Calibri"/>
              </a:rPr>
              <a:t>Painel de Indicadores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3611880"/>
            <a:ext cx="100584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0">
                <a:solidFill>
                  <a:srgbClr val="D8E8E1"/>
                </a:solidFill>
                <a:latin typeface="Calibri"/>
              </a:rPr>
              <a:t>Competência 08/2026 · modelo recategorizado em dez cards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24128" y="4389120"/>
            <a:ext cx="2011680" cy="41148"/>
          </a:xfrm>
          <a:prstGeom prst="roundRect">
            <a:avLst>
              <a:gd name="adj" fmla="val 3000"/>
            </a:avLst>
          </a:prstGeom>
          <a:solidFill>
            <a:srgbClr val="8FC0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4709160"/>
            <a:ext cx="96012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A9CCC0"/>
                </a:solidFill>
                <a:latin typeface="Calibri"/>
              </a:rPr>
              <a:t>Gerado em 28/08/2026 · recorte: todos os períodos, todas as operadoras, AD e ID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548640"/>
            <a:ext cx="91440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>
                <a:solidFill>
                  <a:srgbClr val="15211D"/>
                </a:solidFill>
                <a:latin typeface="Calibri"/>
              </a:rPr>
              <a:t>Os dez cards no período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051560"/>
            <a:ext cx="1060704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47554F"/>
                </a:solidFill>
                <a:latin typeface="Calibri"/>
              </a:rPr>
              <a:t>Valor principal de cada indicador e situação frente à meta.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77240" y="1645920"/>
            <a:ext cx="2606040" cy="1207008"/>
          </a:xfrm>
          <a:prstGeom prst="roundRect">
            <a:avLst>
              <a:gd name="adj" fmla="val 3000"/>
            </a:avLst>
          </a:prstGeom>
          <a:solidFill>
            <a:srgbClr val="F6E9E4"/>
          </a:solidFill>
          <a:ln w="9525">
            <a:solidFill>
              <a:srgbClr val="A3462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41832" y="1773936"/>
            <a:ext cx="23317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>
                <a:solidFill>
                  <a:srgbClr val="A3462F"/>
                </a:solidFill>
                <a:latin typeface="Calibri"/>
              </a:rP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" y="1993392"/>
            <a:ext cx="23317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95000"/>
              </a:lnSpc>
            </a:pPr>
            <a:r>
              <a:rPr sz="1150" b="1">
                <a:solidFill>
                  <a:srgbClr val="15211D"/>
                </a:solidFill>
                <a:latin typeface="Calibri"/>
              </a:rPr>
              <a:t>Movimentação da Carteira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41832" y="2414016"/>
            <a:ext cx="233172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900" b="1">
                <a:solidFill>
                  <a:srgbClr val="A3462F"/>
                </a:solidFill>
                <a:latin typeface="Calibri"/>
              </a:rPr>
              <a:t>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41832" y="2660904"/>
            <a:ext cx="233172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b="0">
                <a:solidFill>
                  <a:srgbClr val="77857E"/>
                </a:solidFill>
                <a:latin typeface="Calibri"/>
              </a:rPr>
              <a:t>movimentações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511296" y="1645920"/>
            <a:ext cx="2606040" cy="1207008"/>
          </a:xfrm>
          <a:prstGeom prst="roundRect">
            <a:avLst>
              <a:gd name="adj" fmla="val 3000"/>
            </a:avLst>
          </a:prstGeom>
          <a:solidFill>
            <a:srgbClr val="F6E9E4"/>
          </a:solidFill>
          <a:ln w="9525">
            <a:solidFill>
              <a:srgbClr val="A3462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75888" y="1773936"/>
            <a:ext cx="23317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>
                <a:solidFill>
                  <a:srgbClr val="A3462F"/>
                </a:solidFill>
                <a:latin typeface="Calibri"/>
              </a:rP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75888" y="1993392"/>
            <a:ext cx="23317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95000"/>
              </a:lnSpc>
            </a:pPr>
            <a:r>
              <a:rPr sz="1150" b="1">
                <a:solidFill>
                  <a:srgbClr val="15211D"/>
                </a:solidFill>
                <a:latin typeface="Calibri"/>
              </a:rPr>
              <a:t>Intercorrências e Resolutividade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75888" y="2414016"/>
            <a:ext cx="233172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900" b="1">
                <a:solidFill>
                  <a:srgbClr val="A3462F"/>
                </a:solidFill>
                <a:latin typeface="Calibri"/>
              </a:rPr>
              <a:t>8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75888" y="2660904"/>
            <a:ext cx="233172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b="0">
                <a:solidFill>
                  <a:srgbClr val="77857E"/>
                </a:solidFill>
                <a:latin typeface="Calibri"/>
              </a:rPr>
              <a:t>intercorrências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45352" y="1645920"/>
            <a:ext cx="2606040" cy="1207008"/>
          </a:xfrm>
          <a:prstGeom prst="roundRect">
            <a:avLst>
              <a:gd name="adj" fmla="val 3000"/>
            </a:avLst>
          </a:prstGeom>
          <a:solidFill>
            <a:srgbClr val="FAFBFA"/>
          </a:solidFill>
          <a:ln w="9525">
            <a:solidFill>
              <a:srgbClr val="E0E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9944" y="1773936"/>
            <a:ext cx="23317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>
                <a:solidFill>
                  <a:srgbClr val="1F5F52"/>
                </a:solidFill>
                <a:latin typeface="Calibri"/>
              </a:rPr>
              <a:t>03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9944" y="1993392"/>
            <a:ext cx="23317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95000"/>
              </a:lnSpc>
            </a:pPr>
            <a:r>
              <a:rPr sz="1150" b="1">
                <a:solidFill>
                  <a:srgbClr val="15211D"/>
                </a:solidFill>
                <a:latin typeface="Calibri"/>
              </a:rPr>
              <a:t>Óbitos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9944" y="2414016"/>
            <a:ext cx="233172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900" b="1">
                <a:solidFill>
                  <a:srgbClr val="1F5F52"/>
                </a:solidFill>
                <a:latin typeface="Calibri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9944" y="2660904"/>
            <a:ext cx="233172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b="0">
                <a:solidFill>
                  <a:srgbClr val="77857E"/>
                </a:solidFill>
                <a:latin typeface="Calibri"/>
              </a:rPr>
              <a:t>óbitos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979408" y="1645920"/>
            <a:ext cx="2606040" cy="1207008"/>
          </a:xfrm>
          <a:prstGeom prst="roundRect">
            <a:avLst>
              <a:gd name="adj" fmla="val 3000"/>
            </a:avLst>
          </a:prstGeom>
          <a:solidFill>
            <a:srgbClr val="FAFBFA"/>
          </a:solidFill>
          <a:ln w="9525">
            <a:solidFill>
              <a:srgbClr val="E0E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144000" y="1773936"/>
            <a:ext cx="23317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>
                <a:solidFill>
                  <a:srgbClr val="1F5F52"/>
                </a:solidFill>
                <a:latin typeface="Calibri"/>
              </a:rPr>
              <a:t>04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44000" y="1993392"/>
            <a:ext cx="23317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95000"/>
              </a:lnSpc>
            </a:pPr>
            <a:r>
              <a:rPr sz="1150" b="1">
                <a:solidFill>
                  <a:srgbClr val="15211D"/>
                </a:solidFill>
                <a:latin typeface="Calibri"/>
              </a:rPr>
              <a:t>Adequação e Execução do PAD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44000" y="2414016"/>
            <a:ext cx="233172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900" b="1">
                <a:solidFill>
                  <a:srgbClr val="1F5F52"/>
                </a:solidFill>
                <a:latin typeface="Calibri"/>
              </a:rPr>
              <a:t>7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44000" y="2660904"/>
            <a:ext cx="233172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b="0">
                <a:solidFill>
                  <a:srgbClr val="77857E"/>
                </a:solidFill>
                <a:latin typeface="Calibri"/>
              </a:rPr>
              <a:t>alterações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77240" y="2999232"/>
            <a:ext cx="2606040" cy="1207008"/>
          </a:xfrm>
          <a:prstGeom prst="roundRect">
            <a:avLst>
              <a:gd name="adj" fmla="val 3000"/>
            </a:avLst>
          </a:prstGeom>
          <a:solidFill>
            <a:srgbClr val="F6E9E4"/>
          </a:solidFill>
          <a:ln w="9525">
            <a:solidFill>
              <a:srgbClr val="A3462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41832" y="3127248"/>
            <a:ext cx="23317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>
                <a:solidFill>
                  <a:srgbClr val="A3462F"/>
                </a:solidFill>
                <a:latin typeface="Calibri"/>
              </a:rPr>
              <a:t>05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41832" y="3346704"/>
            <a:ext cx="23317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95000"/>
              </a:lnSpc>
            </a:pPr>
            <a:r>
              <a:rPr sz="1150" b="1">
                <a:solidFill>
                  <a:srgbClr val="15211D"/>
                </a:solidFill>
                <a:latin typeface="Calibri"/>
              </a:rPr>
              <a:t>Eventos Adversos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41832" y="3767328"/>
            <a:ext cx="233172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900" b="1">
                <a:solidFill>
                  <a:srgbClr val="A3462F"/>
                </a:solidFill>
                <a:latin typeface="Calibri"/>
              </a:rPr>
              <a:t>8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41832" y="4014216"/>
            <a:ext cx="233172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b="0">
                <a:solidFill>
                  <a:srgbClr val="77857E"/>
                </a:solidFill>
                <a:latin typeface="Calibri"/>
              </a:rPr>
              <a:t>eventos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3511296" y="2999232"/>
            <a:ext cx="2606040" cy="1207008"/>
          </a:xfrm>
          <a:prstGeom prst="roundRect">
            <a:avLst>
              <a:gd name="adj" fmla="val 3000"/>
            </a:avLst>
          </a:prstGeom>
          <a:solidFill>
            <a:srgbClr val="F6E9E4"/>
          </a:solidFill>
          <a:ln w="9525">
            <a:solidFill>
              <a:srgbClr val="A3462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675888" y="3127248"/>
            <a:ext cx="23317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>
                <a:solidFill>
                  <a:srgbClr val="A3462F"/>
                </a:solidFill>
                <a:latin typeface="Calibri"/>
              </a:rPr>
              <a:t>06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675888" y="3346704"/>
            <a:ext cx="23317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95000"/>
              </a:lnSpc>
            </a:pPr>
            <a:r>
              <a:rPr sz="1150" b="1">
                <a:solidFill>
                  <a:srgbClr val="15211D"/>
                </a:solidFill>
                <a:latin typeface="Calibri"/>
              </a:rPr>
              <a:t>Lesões de Pele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675888" y="3767328"/>
            <a:ext cx="233172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900" b="1">
                <a:solidFill>
                  <a:srgbClr val="A3462F"/>
                </a:solidFill>
                <a:latin typeface="Calibri"/>
              </a:rPr>
              <a:t>7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675888" y="4014216"/>
            <a:ext cx="233172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b="0">
                <a:solidFill>
                  <a:srgbClr val="77857E"/>
                </a:solidFill>
                <a:latin typeface="Calibri"/>
              </a:rPr>
              <a:t>lesões ativas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245352" y="2999232"/>
            <a:ext cx="2606040" cy="1207008"/>
          </a:xfrm>
          <a:prstGeom prst="roundRect">
            <a:avLst>
              <a:gd name="adj" fmla="val 3000"/>
            </a:avLst>
          </a:prstGeom>
          <a:solidFill>
            <a:srgbClr val="F6E9E4"/>
          </a:solidFill>
          <a:ln w="9525">
            <a:solidFill>
              <a:srgbClr val="A3462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09944" y="3127248"/>
            <a:ext cx="23317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>
                <a:solidFill>
                  <a:srgbClr val="A3462F"/>
                </a:solidFill>
                <a:latin typeface="Calibri"/>
              </a:rPr>
              <a:t>07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409944" y="3346704"/>
            <a:ext cx="23317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95000"/>
              </a:lnSpc>
            </a:pPr>
            <a:r>
              <a:rPr sz="1150" b="1">
                <a:solidFill>
                  <a:srgbClr val="15211D"/>
                </a:solidFill>
                <a:latin typeface="Calibri"/>
              </a:rPr>
              <a:t>Custo e Evitabilidade das Lesões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409944" y="3767328"/>
            <a:ext cx="233172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900" b="1">
                <a:solidFill>
                  <a:srgbClr val="A3462F"/>
                </a:solidFill>
                <a:latin typeface="Calibri"/>
              </a:rPr>
              <a:t>R$ 17.565,90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409944" y="4014216"/>
            <a:ext cx="233172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b="0">
                <a:solidFill>
                  <a:srgbClr val="77857E"/>
                </a:solidFill>
                <a:latin typeface="Calibri"/>
              </a:rPr>
              <a:t>custo do período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8979408" y="2999232"/>
            <a:ext cx="2606040" cy="1207008"/>
          </a:xfrm>
          <a:prstGeom prst="roundRect">
            <a:avLst>
              <a:gd name="adj" fmla="val 3000"/>
            </a:avLst>
          </a:prstGeom>
          <a:solidFill>
            <a:srgbClr val="F6E9E4"/>
          </a:solidFill>
          <a:ln w="9525">
            <a:solidFill>
              <a:srgbClr val="A3462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9144000" y="3127248"/>
            <a:ext cx="23317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>
                <a:solidFill>
                  <a:srgbClr val="A3462F"/>
                </a:solidFill>
                <a:latin typeface="Calibri"/>
              </a:rPr>
              <a:t>08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144000" y="3346704"/>
            <a:ext cx="23317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95000"/>
              </a:lnSpc>
            </a:pPr>
            <a:r>
              <a:rPr sz="1150" b="1">
                <a:solidFill>
                  <a:srgbClr val="15211D"/>
                </a:solidFill>
                <a:latin typeface="Calibri"/>
              </a:rPr>
              <a:t>Infecção e Antimicrobianos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144000" y="3767328"/>
            <a:ext cx="233172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900" b="1">
                <a:solidFill>
                  <a:srgbClr val="A3462F"/>
                </a:solidFill>
                <a:latin typeface="Calibri"/>
              </a:rPr>
              <a:t>7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144000" y="4014216"/>
            <a:ext cx="233172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b="0">
                <a:solidFill>
                  <a:srgbClr val="77857E"/>
                </a:solidFill>
                <a:latin typeface="Calibri"/>
              </a:rPr>
              <a:t>infecções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777240" y="4352544"/>
            <a:ext cx="2606040" cy="1207008"/>
          </a:xfrm>
          <a:prstGeom prst="roundRect">
            <a:avLst>
              <a:gd name="adj" fmla="val 3000"/>
            </a:avLst>
          </a:prstGeom>
          <a:solidFill>
            <a:srgbClr val="FAFBFA"/>
          </a:solidFill>
          <a:ln w="9525">
            <a:solidFill>
              <a:srgbClr val="E0E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941832" y="4480559"/>
            <a:ext cx="23317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>
                <a:solidFill>
                  <a:srgbClr val="1F5F52"/>
                </a:solidFill>
                <a:latin typeface="Calibri"/>
              </a:rPr>
              <a:t>09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41832" y="4700016"/>
            <a:ext cx="23317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95000"/>
              </a:lnSpc>
            </a:pPr>
            <a:r>
              <a:rPr sz="1150" b="1">
                <a:solidFill>
                  <a:srgbClr val="15211D"/>
                </a:solidFill>
                <a:latin typeface="Calibri"/>
              </a:rPr>
              <a:t>Ouvidoria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41832" y="5120640"/>
            <a:ext cx="233172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900" b="1">
                <a:solidFill>
                  <a:srgbClr val="1F5F52"/>
                </a:solidFill>
                <a:latin typeface="Calibri"/>
              </a:rPr>
              <a:t>8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941832" y="5367528"/>
            <a:ext cx="233172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b="0">
                <a:solidFill>
                  <a:srgbClr val="77857E"/>
                </a:solidFill>
                <a:latin typeface="Calibri"/>
              </a:rPr>
              <a:t>manifestações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3511296" y="4352544"/>
            <a:ext cx="2606040" cy="1207008"/>
          </a:xfrm>
          <a:prstGeom prst="roundRect">
            <a:avLst>
              <a:gd name="adj" fmla="val 3000"/>
            </a:avLst>
          </a:prstGeom>
          <a:solidFill>
            <a:srgbClr val="FAFBFA"/>
          </a:solidFill>
          <a:ln w="9525">
            <a:solidFill>
              <a:srgbClr val="E0E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3675888" y="4480559"/>
            <a:ext cx="23317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>
                <a:solidFill>
                  <a:srgbClr val="1F5F52"/>
                </a:solidFill>
                <a:latin typeface="Calibri"/>
              </a:rPr>
              <a:t>10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3675888" y="4700016"/>
            <a:ext cx="23317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95000"/>
              </a:lnSpc>
            </a:pPr>
            <a:r>
              <a:rPr sz="1150" b="1">
                <a:solidFill>
                  <a:srgbClr val="15211D"/>
                </a:solidFill>
                <a:latin typeface="Calibri"/>
              </a:rPr>
              <a:t>Vulnerabilidade e Proteção Social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3675888" y="5120640"/>
            <a:ext cx="233172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900" b="1">
                <a:solidFill>
                  <a:srgbClr val="1F5F52"/>
                </a:solidFill>
                <a:latin typeface="Calibri"/>
              </a:rPr>
              <a:t>6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3675888" y="5367528"/>
            <a:ext cx="233172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b="0">
                <a:solidFill>
                  <a:srgbClr val="77857E"/>
                </a:solidFill>
                <a:latin typeface="Calibri"/>
              </a:rPr>
              <a:t>casos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777240" y="6355080"/>
            <a:ext cx="106070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77857E"/>
                </a:solidFill>
                <a:latin typeface="Calibri"/>
              </a:rPr>
              <a:t>Card 03 é espelho de 1.4 e não soma ao painel · card 07 é campo de valor, não contador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-91440" y="-91440"/>
            <a:ext cx="12374575" cy="164592"/>
          </a:xfrm>
          <a:prstGeom prst="roundRect">
            <a:avLst>
              <a:gd name="adj" fmla="val 3000"/>
            </a:avLst>
          </a:prstGeom>
          <a:solidFill>
            <a:srgbClr val="1F5F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41148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77857E"/>
                </a:solidFill>
                <a:latin typeface="Calibri"/>
              </a:rPr>
              <a:t>CARD 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685800"/>
            <a:ext cx="78638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>
                <a:solidFill>
                  <a:srgbClr val="15211D"/>
                </a:solidFill>
                <a:latin typeface="Calibri"/>
              </a:rPr>
              <a:t>Movimentação da Carteira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188720"/>
            <a:ext cx="7680960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150" b="0">
                <a:solidFill>
                  <a:srgbClr val="47554F"/>
                </a:solidFill>
                <a:latin typeface="Calibri"/>
              </a:rPr>
              <a:t>Cada linha é um episódio de cuidado, não um evento solto. A admissão abre o episódio; o desfecho (1.2 a 1.7) o fecha. Ninguém some da base — o episódio encerra.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351215" y="640080"/>
            <a:ext cx="3063240" cy="822960"/>
          </a:xfrm>
          <a:prstGeom prst="roundRect">
            <a:avLst>
              <a:gd name="adj" fmla="val 3000"/>
            </a:avLst>
          </a:prstGeom>
          <a:solidFill>
            <a:srgbClr val="F6E9E4"/>
          </a:solidFill>
          <a:ln w="9525">
            <a:solidFill>
              <a:srgbClr val="A3462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506663" y="768096"/>
            <a:ext cx="2752344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1">
                <a:solidFill>
                  <a:srgbClr val="A3462F"/>
                </a:solidFill>
                <a:latin typeface="Calibri"/>
              </a:rPr>
              <a:t>META NÃO ATINGIDA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06663" y="987552"/>
            <a:ext cx="2752344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>
                <a:solidFill>
                  <a:srgbClr val="47554F"/>
                </a:solidFill>
                <a:latin typeface="Calibri"/>
              </a:rPr>
              <a:t>Saídas não eletivas ≤ 30% das saídas do mês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77240" y="1938528"/>
            <a:ext cx="2606040" cy="1060704"/>
          </a:xfrm>
          <a:prstGeom prst="roundRect">
            <a:avLst>
              <a:gd name="adj" fmla="val 3000"/>
            </a:avLst>
          </a:prstGeom>
          <a:solidFill>
            <a:srgbClr val="E4EFEA"/>
          </a:solidFill>
          <a:ln w="9525">
            <a:solidFill>
              <a:srgbClr val="E0E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41832" y="2057400"/>
            <a:ext cx="23317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1">
                <a:solidFill>
                  <a:srgbClr val="77857E"/>
                </a:solidFill>
                <a:latin typeface="Calibri"/>
              </a:rPr>
              <a:t>MOVIMENTAÇÕES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41832" y="2267712"/>
            <a:ext cx="23317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100" b="1">
                <a:solidFill>
                  <a:srgbClr val="1F5F52"/>
                </a:solidFill>
                <a:latin typeface="Calibri"/>
              </a:rPr>
              <a:t>8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41832" y="2651760"/>
            <a:ext cx="23317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95000"/>
              </a:lnSpc>
            </a:pPr>
            <a:r>
              <a:rPr sz="900" b="0">
                <a:solidFill>
                  <a:srgbClr val="77857E"/>
                </a:solidFill>
                <a:latin typeface="Calibri"/>
              </a:rPr>
              <a:t>no mês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511296" y="1938528"/>
            <a:ext cx="2606040" cy="1060704"/>
          </a:xfrm>
          <a:prstGeom prst="roundRect">
            <a:avLst>
              <a:gd name="adj" fmla="val 3000"/>
            </a:avLst>
          </a:prstGeom>
          <a:solidFill>
            <a:srgbClr val="FAFBFA"/>
          </a:solidFill>
          <a:ln w="9525">
            <a:solidFill>
              <a:srgbClr val="E0E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675888" y="2057400"/>
            <a:ext cx="23317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1">
                <a:solidFill>
                  <a:srgbClr val="77857E"/>
                </a:solidFill>
                <a:latin typeface="Calibri"/>
              </a:rPr>
              <a:t>ADMISSÕES (1.1)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75888" y="2267712"/>
            <a:ext cx="23317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100" b="1">
                <a:solidFill>
                  <a:srgbClr val="15211D"/>
                </a:solidFill>
                <a:latin typeface="Calibri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75888" y="2651760"/>
            <a:ext cx="23317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95000"/>
              </a:lnSpc>
            </a:pPr>
            <a:r>
              <a:rPr sz="900" b="0">
                <a:solidFill>
                  <a:srgbClr val="77857E"/>
                </a:solidFill>
                <a:latin typeface="Calibri"/>
              </a:rPr>
              <a:t>entradas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45352" y="1938528"/>
            <a:ext cx="2606040" cy="1060704"/>
          </a:xfrm>
          <a:prstGeom prst="roundRect">
            <a:avLst>
              <a:gd name="adj" fmla="val 3000"/>
            </a:avLst>
          </a:prstGeom>
          <a:solidFill>
            <a:srgbClr val="FAFBFA"/>
          </a:solidFill>
          <a:ln w="9525">
            <a:solidFill>
              <a:srgbClr val="E0E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9944" y="2057400"/>
            <a:ext cx="23317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1">
                <a:solidFill>
                  <a:srgbClr val="77857E"/>
                </a:solidFill>
                <a:latin typeface="Calibri"/>
              </a:rPr>
              <a:t>SAÍDAS (1.2 – 1.7)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9944" y="2267712"/>
            <a:ext cx="23317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100" b="1">
                <a:solidFill>
                  <a:srgbClr val="15211D"/>
                </a:solidFill>
                <a:latin typeface="Calibri"/>
              </a:rPr>
              <a:t>6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9944" y="2651760"/>
            <a:ext cx="23317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95000"/>
              </a:lnSpc>
            </a:pPr>
            <a:r>
              <a:rPr sz="900" b="0">
                <a:solidFill>
                  <a:srgbClr val="77857E"/>
                </a:solidFill>
                <a:latin typeface="Calibri"/>
              </a:rPr>
              <a:t>desfechos registrados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979408" y="1938528"/>
            <a:ext cx="2606040" cy="1060704"/>
          </a:xfrm>
          <a:prstGeom prst="roundRect">
            <a:avLst>
              <a:gd name="adj" fmla="val 3000"/>
            </a:avLst>
          </a:prstGeom>
          <a:solidFill>
            <a:srgbClr val="FAFBFA"/>
          </a:solidFill>
          <a:ln w="9525">
            <a:solidFill>
              <a:srgbClr val="E0E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144000" y="2057400"/>
            <a:ext cx="23317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1">
                <a:solidFill>
                  <a:srgbClr val="77857E"/>
                </a:solidFill>
                <a:latin typeface="Calibri"/>
              </a:rPr>
              <a:t>EPISÓDIOS ABERTOS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44000" y="2267712"/>
            <a:ext cx="23317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100" b="1">
                <a:solidFill>
                  <a:srgbClr val="15211D"/>
                </a:solidFill>
                <a:latin typeface="Calibri"/>
              </a:rP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44000" y="2651760"/>
            <a:ext cx="23317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95000"/>
              </a:lnSpc>
            </a:pPr>
            <a:r>
              <a:rPr sz="900" b="0">
                <a:solidFill>
                  <a:srgbClr val="77857E"/>
                </a:solidFill>
                <a:latin typeface="Calibri"/>
              </a:rPr>
              <a:t>carteira ativa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77240" y="3200400"/>
            <a:ext cx="512064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b="1">
                <a:solidFill>
                  <a:srgbClr val="77857E"/>
                </a:solidFill>
                <a:latin typeface="Calibri"/>
              </a:rPr>
              <a:t>EVOLUÇÃO MENSAL</a:t>
            </a:r>
          </a:p>
        </p:txBody>
      </p:sp>
      <p:graphicFrame>
        <p:nvGraphicFramePr>
          <p:cNvPr id="26" name="Chart 25"/>
          <p:cNvGraphicFramePr>
            <a:graphicFrameLocks noGrp="1"/>
          </p:cNvGraphicFramePr>
          <p:nvPr/>
        </p:nvGraphicFramePr>
        <p:xfrm>
          <a:off x="640080" y="3401568"/>
          <a:ext cx="5394960" cy="265176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27" name="TextBox 26"/>
          <p:cNvSpPr txBox="1"/>
          <p:nvPr/>
        </p:nvSpPr>
        <p:spPr>
          <a:xfrm>
            <a:off x="6355080" y="3200400"/>
            <a:ext cx="493776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b="1">
                <a:solidFill>
                  <a:srgbClr val="77857E"/>
                </a:solidFill>
                <a:latin typeface="Calibri"/>
              </a:rPr>
              <a:t>POR SUBCATEGORIA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355080" y="3474720"/>
            <a:ext cx="36576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47554F"/>
                </a:solidFill>
                <a:latin typeface="Calibri"/>
              </a:rPr>
              <a:t>1.1 Admissão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10058400" y="3538727"/>
            <a:ext cx="914400" cy="109728"/>
          </a:xfrm>
          <a:prstGeom prst="roundRect">
            <a:avLst>
              <a:gd name="adj" fmla="val 3000"/>
            </a:avLst>
          </a:prstGeom>
          <a:solidFill>
            <a:srgbClr val="1F5F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1018520" y="3465576"/>
            <a:ext cx="9144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050" b="1">
                <a:solidFill>
                  <a:srgbClr val="15211D"/>
                </a:solidFill>
                <a:latin typeface="Calibri"/>
              </a:rPr>
              <a:t>10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355080" y="3831335"/>
            <a:ext cx="36576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47554F"/>
                </a:solidFill>
                <a:latin typeface="Calibri"/>
              </a:rPr>
              <a:t>1.2 Alta por objetivo terapêutico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10058400" y="3895344"/>
            <a:ext cx="91440" cy="109728"/>
          </a:xfrm>
          <a:prstGeom prst="roundRect">
            <a:avLst>
              <a:gd name="adj" fmla="val 3000"/>
            </a:avLst>
          </a:prstGeom>
          <a:solidFill>
            <a:srgbClr val="1F5F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1018520" y="3822191"/>
            <a:ext cx="9144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050" b="1">
                <a:solidFill>
                  <a:srgbClr val="15211D"/>
                </a:solidFill>
                <a:latin typeface="Calibri"/>
              </a:rPr>
              <a:t>1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355080" y="4187951"/>
            <a:ext cx="36576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47554F"/>
                </a:solidFill>
                <a:latin typeface="Calibri"/>
              </a:rPr>
              <a:t>1.3 Alta por transição de nível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10058400" y="4251959"/>
            <a:ext cx="91440" cy="109728"/>
          </a:xfrm>
          <a:prstGeom prst="roundRect">
            <a:avLst>
              <a:gd name="adj" fmla="val 3000"/>
            </a:avLst>
          </a:prstGeom>
          <a:solidFill>
            <a:srgbClr val="1F5F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1018520" y="4178807"/>
            <a:ext cx="9144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050" b="1">
                <a:solidFill>
                  <a:srgbClr val="15211D"/>
                </a:solidFill>
                <a:latin typeface="Calibri"/>
              </a:rPr>
              <a:t>1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355080" y="4544567"/>
            <a:ext cx="36576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47554F"/>
                </a:solidFill>
                <a:latin typeface="Calibri"/>
              </a:rPr>
              <a:t>1.4 Saída por óbito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10058400" y="4608575"/>
            <a:ext cx="91440" cy="109728"/>
          </a:xfrm>
          <a:prstGeom prst="roundRect">
            <a:avLst>
              <a:gd name="adj" fmla="val 3000"/>
            </a:avLst>
          </a:prstGeom>
          <a:solidFill>
            <a:srgbClr val="1F5F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1018520" y="4535423"/>
            <a:ext cx="9144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050" b="1">
                <a:solidFill>
                  <a:srgbClr val="15211D"/>
                </a:solidFill>
                <a:latin typeface="Calibri"/>
              </a:rPr>
              <a:t>1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355080" y="4901183"/>
            <a:ext cx="36576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47554F"/>
                </a:solidFill>
                <a:latin typeface="Calibri"/>
              </a:rPr>
              <a:t>1.5 Saída por internação prolongada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10058400" y="4965191"/>
            <a:ext cx="91440" cy="109728"/>
          </a:xfrm>
          <a:prstGeom prst="roundRect">
            <a:avLst>
              <a:gd name="adj" fmla="val 3000"/>
            </a:avLst>
          </a:prstGeom>
          <a:solidFill>
            <a:srgbClr val="1F5F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11018520" y="4892039"/>
            <a:ext cx="9144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050" b="1">
                <a:solidFill>
                  <a:srgbClr val="15211D"/>
                </a:solidFill>
                <a:latin typeface="Calibri"/>
              </a:rPr>
              <a:t>1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355080" y="5257799"/>
            <a:ext cx="36576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47554F"/>
                </a:solidFill>
                <a:latin typeface="Calibri"/>
              </a:rPr>
              <a:t>1.6 Desligamento administrativo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10058400" y="5321807"/>
            <a:ext cx="91440" cy="109728"/>
          </a:xfrm>
          <a:prstGeom prst="roundRect">
            <a:avLst>
              <a:gd name="adj" fmla="val 3000"/>
            </a:avLst>
          </a:prstGeom>
          <a:solidFill>
            <a:srgbClr val="1F5F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11018520" y="5248655"/>
            <a:ext cx="9144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050" b="1">
                <a:solidFill>
                  <a:srgbClr val="15211D"/>
                </a:solidFill>
                <a:latin typeface="Calibri"/>
              </a:rPr>
              <a:t>1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355080" y="5614415"/>
            <a:ext cx="36576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47554F"/>
                </a:solidFill>
                <a:latin typeface="Calibri"/>
              </a:rPr>
              <a:t>1.7 Transferência para outra prestadora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10058400" y="5678423"/>
            <a:ext cx="91440" cy="109728"/>
          </a:xfrm>
          <a:prstGeom prst="roundRect">
            <a:avLst>
              <a:gd name="adj" fmla="val 3000"/>
            </a:avLst>
          </a:prstGeom>
          <a:solidFill>
            <a:srgbClr val="1F5F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11018520" y="5605271"/>
            <a:ext cx="9144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050" b="1">
                <a:solidFill>
                  <a:srgbClr val="15211D"/>
                </a:solidFill>
                <a:latin typeface="Calibri"/>
              </a:rPr>
              <a:t>1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-91440" y="-91440"/>
            <a:ext cx="12374575" cy="164592"/>
          </a:xfrm>
          <a:prstGeom prst="roundRect">
            <a:avLst>
              <a:gd name="adj" fmla="val 3000"/>
            </a:avLst>
          </a:prstGeom>
          <a:solidFill>
            <a:srgbClr val="1F5F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41148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77857E"/>
                </a:solidFill>
                <a:latin typeface="Calibri"/>
              </a:rPr>
              <a:t>CARD 02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685800"/>
            <a:ext cx="78638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>
                <a:solidFill>
                  <a:srgbClr val="15211D"/>
                </a:solidFill>
                <a:latin typeface="Calibri"/>
              </a:rPr>
              <a:t>Intercorrências e Resolutividade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188720"/>
            <a:ext cx="7680960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150" b="0">
                <a:solidFill>
                  <a:srgbClr val="47554F"/>
                </a:solidFill>
                <a:latin typeface="Calibri"/>
              </a:rPr>
              <a:t>A taxa de internação hospitalar sai daqui, do desfecho 2.4 — o antigo card 03 deixou de existir. 2.3 e 2.4 são desfechos diferentes e nunca se somam.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351215" y="640080"/>
            <a:ext cx="3063240" cy="822960"/>
          </a:xfrm>
          <a:prstGeom prst="roundRect">
            <a:avLst>
              <a:gd name="adj" fmla="val 3000"/>
            </a:avLst>
          </a:prstGeom>
          <a:solidFill>
            <a:srgbClr val="F6E9E4"/>
          </a:solidFill>
          <a:ln w="9525">
            <a:solidFill>
              <a:srgbClr val="A3462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506663" y="768096"/>
            <a:ext cx="2752344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1">
                <a:solidFill>
                  <a:srgbClr val="A3462F"/>
                </a:solidFill>
                <a:latin typeface="Calibri"/>
              </a:rPr>
              <a:t>META NÃO ATINGIDA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06663" y="987552"/>
            <a:ext cx="2752344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>
                <a:solidFill>
                  <a:srgbClr val="47554F"/>
                </a:solidFill>
                <a:latin typeface="Calibri"/>
              </a:rPr>
              <a:t>Resolutividade no domicílio ≥ 70%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77240" y="1938528"/>
            <a:ext cx="2606040" cy="1060704"/>
          </a:xfrm>
          <a:prstGeom prst="roundRect">
            <a:avLst>
              <a:gd name="adj" fmla="val 3000"/>
            </a:avLst>
          </a:prstGeom>
          <a:solidFill>
            <a:srgbClr val="E4EFEA"/>
          </a:solidFill>
          <a:ln w="9525">
            <a:solidFill>
              <a:srgbClr val="E0E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41832" y="2057400"/>
            <a:ext cx="23317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1">
                <a:solidFill>
                  <a:srgbClr val="77857E"/>
                </a:solidFill>
                <a:latin typeface="Calibri"/>
              </a:rPr>
              <a:t>INTERCORRÊNCIAS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41832" y="2267712"/>
            <a:ext cx="23317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100" b="1">
                <a:solidFill>
                  <a:srgbClr val="1F5F52"/>
                </a:solidFill>
                <a:latin typeface="Calibri"/>
              </a:rPr>
              <a:t>8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41832" y="2651760"/>
            <a:ext cx="23317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95000"/>
              </a:lnSpc>
            </a:pPr>
            <a:r>
              <a:rPr sz="900" b="0">
                <a:solidFill>
                  <a:srgbClr val="77857E"/>
                </a:solidFill>
                <a:latin typeface="Calibri"/>
              </a:rPr>
              <a:t>no período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511296" y="1938528"/>
            <a:ext cx="2606040" cy="1060704"/>
          </a:xfrm>
          <a:prstGeom prst="roundRect">
            <a:avLst>
              <a:gd name="adj" fmla="val 3000"/>
            </a:avLst>
          </a:prstGeom>
          <a:solidFill>
            <a:srgbClr val="FAFBFA"/>
          </a:solidFill>
          <a:ln w="9525">
            <a:solidFill>
              <a:srgbClr val="E0E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675888" y="2057400"/>
            <a:ext cx="23317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1">
                <a:solidFill>
                  <a:srgbClr val="77857E"/>
                </a:solidFill>
                <a:latin typeface="Calibri"/>
              </a:rPr>
              <a:t>RESOLVIDAS NO DOMICÍLIO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75888" y="2267712"/>
            <a:ext cx="23317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100" b="1">
                <a:solidFill>
                  <a:srgbClr val="15211D"/>
                </a:solidFill>
                <a:latin typeface="Calibri"/>
              </a:rPr>
              <a:t>37,5%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75888" y="2651760"/>
            <a:ext cx="23317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95000"/>
              </a:lnSpc>
            </a:pPr>
            <a:r>
              <a:rPr sz="900" b="0">
                <a:solidFill>
                  <a:srgbClr val="77857E"/>
                </a:solidFill>
                <a:latin typeface="Calibri"/>
              </a:rPr>
              <a:t>2.1 + 2.2 — resolutividade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45352" y="1938528"/>
            <a:ext cx="2606040" cy="1060704"/>
          </a:xfrm>
          <a:prstGeom prst="roundRect">
            <a:avLst>
              <a:gd name="adj" fmla="val 3000"/>
            </a:avLst>
          </a:prstGeom>
          <a:solidFill>
            <a:srgbClr val="F6E9E4"/>
          </a:solidFill>
          <a:ln w="9525">
            <a:solidFill>
              <a:srgbClr val="A3462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9944" y="2057400"/>
            <a:ext cx="23317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1">
                <a:solidFill>
                  <a:srgbClr val="77857E"/>
                </a:solidFill>
                <a:latin typeface="Calibri"/>
              </a:rPr>
              <a:t>TAXA DE INTERNAÇÃO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9944" y="2267712"/>
            <a:ext cx="23317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100" b="1">
                <a:solidFill>
                  <a:srgbClr val="A3462F"/>
                </a:solidFill>
                <a:latin typeface="Calibri"/>
              </a:rPr>
              <a:t>25%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9944" y="2651760"/>
            <a:ext cx="23317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95000"/>
              </a:lnSpc>
            </a:pPr>
            <a:r>
              <a:rPr sz="900" b="0">
                <a:solidFill>
                  <a:srgbClr val="77857E"/>
                </a:solidFill>
                <a:latin typeface="Calibri"/>
              </a:rPr>
              <a:t>derivada de 2.4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979408" y="1938528"/>
            <a:ext cx="2606040" cy="1060704"/>
          </a:xfrm>
          <a:prstGeom prst="roundRect">
            <a:avLst>
              <a:gd name="adj" fmla="val 3000"/>
            </a:avLst>
          </a:prstGeom>
          <a:solidFill>
            <a:srgbClr val="FAFBFA"/>
          </a:solidFill>
          <a:ln w="9525">
            <a:solidFill>
              <a:srgbClr val="E0E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144000" y="2057400"/>
            <a:ext cx="23317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1">
                <a:solidFill>
                  <a:srgbClr val="77857E"/>
                </a:solidFill>
                <a:latin typeface="Calibri"/>
              </a:rPr>
              <a:t>REMOÇÕES COM RETORNO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44000" y="2267712"/>
            <a:ext cx="23317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100" b="1">
                <a:solidFill>
                  <a:srgbClr val="15211D"/>
                </a:solidFill>
                <a:latin typeface="Calibri"/>
              </a:rPr>
              <a:t>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44000" y="2651760"/>
            <a:ext cx="23317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95000"/>
              </a:lnSpc>
            </a:pPr>
            <a:r>
              <a:rPr sz="900" b="0">
                <a:solidFill>
                  <a:srgbClr val="77857E"/>
                </a:solidFill>
                <a:latin typeface="Calibri"/>
              </a:rPr>
              <a:t>2.3 — retorno em 24h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77240" y="3200400"/>
            <a:ext cx="512064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b="1">
                <a:solidFill>
                  <a:srgbClr val="77857E"/>
                </a:solidFill>
                <a:latin typeface="Calibri"/>
              </a:rPr>
              <a:t>EVOLUÇÃO MENSAL</a:t>
            </a:r>
          </a:p>
        </p:txBody>
      </p:sp>
      <p:graphicFrame>
        <p:nvGraphicFramePr>
          <p:cNvPr id="26" name="Chart 25"/>
          <p:cNvGraphicFramePr>
            <a:graphicFrameLocks noGrp="1"/>
          </p:cNvGraphicFramePr>
          <p:nvPr/>
        </p:nvGraphicFramePr>
        <p:xfrm>
          <a:off x="640080" y="3401568"/>
          <a:ext cx="5394960" cy="265176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27" name="TextBox 26"/>
          <p:cNvSpPr txBox="1"/>
          <p:nvPr/>
        </p:nvSpPr>
        <p:spPr>
          <a:xfrm>
            <a:off x="6355080" y="3200400"/>
            <a:ext cx="493776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b="1">
                <a:solidFill>
                  <a:srgbClr val="77857E"/>
                </a:solidFill>
                <a:latin typeface="Calibri"/>
              </a:rPr>
              <a:t>POR SUBCATEGORIA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355080" y="3474720"/>
            <a:ext cx="36576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47554F"/>
                </a:solidFill>
                <a:latin typeface="Calibri"/>
              </a:rPr>
              <a:t>2.1 Resolvida pela equipe no domicílio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10058400" y="3538727"/>
            <a:ext cx="914400" cy="109728"/>
          </a:xfrm>
          <a:prstGeom prst="roundRect">
            <a:avLst>
              <a:gd name="adj" fmla="val 3000"/>
            </a:avLst>
          </a:prstGeom>
          <a:solidFill>
            <a:srgbClr val="1F5F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1018520" y="3465576"/>
            <a:ext cx="9144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050" b="1">
                <a:solidFill>
                  <a:srgbClr val="15211D"/>
                </a:solidFill>
                <a:latin typeface="Calibri"/>
              </a:rPr>
              <a:t>2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355080" y="3831335"/>
            <a:ext cx="36576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47554F"/>
                </a:solidFill>
                <a:latin typeface="Calibri"/>
              </a:rPr>
              <a:t>2.3 Remoção APH com retorno em até 24h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10058400" y="3895344"/>
            <a:ext cx="914400" cy="109728"/>
          </a:xfrm>
          <a:prstGeom prst="roundRect">
            <a:avLst>
              <a:gd name="adj" fmla="val 3000"/>
            </a:avLst>
          </a:prstGeom>
          <a:solidFill>
            <a:srgbClr val="1F5F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1018520" y="3822191"/>
            <a:ext cx="9144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050" b="1">
                <a:solidFill>
                  <a:srgbClr val="15211D"/>
                </a:solidFill>
                <a:latin typeface="Calibri"/>
              </a:rPr>
              <a:t>2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355080" y="4187951"/>
            <a:ext cx="36576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47554F"/>
                </a:solidFill>
                <a:latin typeface="Calibri"/>
              </a:rPr>
              <a:t>2.4 Remoção com internação hospitalar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10058400" y="4251959"/>
            <a:ext cx="914400" cy="109728"/>
          </a:xfrm>
          <a:prstGeom prst="roundRect">
            <a:avLst>
              <a:gd name="adj" fmla="val 3000"/>
            </a:avLst>
          </a:prstGeom>
          <a:solidFill>
            <a:srgbClr val="1F5F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1018520" y="4178807"/>
            <a:ext cx="9144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050" b="1">
                <a:solidFill>
                  <a:srgbClr val="15211D"/>
                </a:solidFill>
                <a:latin typeface="Calibri"/>
              </a:rPr>
              <a:t>2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355080" y="4544567"/>
            <a:ext cx="36576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47554F"/>
                </a:solidFill>
                <a:latin typeface="Calibri"/>
              </a:rPr>
              <a:t>2.2 Resolvida com suporte médico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10058400" y="4608575"/>
            <a:ext cx="457200" cy="109728"/>
          </a:xfrm>
          <a:prstGeom prst="roundRect">
            <a:avLst>
              <a:gd name="adj" fmla="val 3000"/>
            </a:avLst>
          </a:prstGeom>
          <a:solidFill>
            <a:srgbClr val="1F5F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1018520" y="4535423"/>
            <a:ext cx="9144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050" b="1">
                <a:solidFill>
                  <a:srgbClr val="15211D"/>
                </a:solidFill>
                <a:latin typeface="Calibri"/>
              </a:rPr>
              <a:t>1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355080" y="4901183"/>
            <a:ext cx="36576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47554F"/>
                </a:solidFill>
                <a:latin typeface="Calibri"/>
              </a:rPr>
              <a:t>2.5 Óbito durante a intercorrência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10058400" y="4965191"/>
            <a:ext cx="457200" cy="109728"/>
          </a:xfrm>
          <a:prstGeom prst="roundRect">
            <a:avLst>
              <a:gd name="adj" fmla="val 3000"/>
            </a:avLst>
          </a:prstGeom>
          <a:solidFill>
            <a:srgbClr val="1F5F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11018520" y="4892039"/>
            <a:ext cx="9144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050" b="1">
                <a:solidFill>
                  <a:srgbClr val="15211D"/>
                </a:solidFill>
                <a:latin typeface="Calibri"/>
              </a:rPr>
              <a:t>1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777240" y="6181344"/>
            <a:ext cx="10607040" cy="457200"/>
          </a:xfrm>
          <a:prstGeom prst="roundRect">
            <a:avLst>
              <a:gd name="adj" fmla="val 3000"/>
            </a:avLst>
          </a:prstGeom>
          <a:solidFill>
            <a:srgbClr val="F6E9E4"/>
          </a:solidFill>
          <a:ln w="9525">
            <a:solidFill>
              <a:srgbClr val="A3462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960120" y="6300216"/>
            <a:ext cx="102412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A3462F"/>
                </a:solidFill>
                <a:latin typeface="Calibri"/>
              </a:rPr>
              <a:t>3 pendências em aberto · Campo obrigatório em falta: Data e hora; Data de retorno ao domicílio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-91440" y="-91440"/>
            <a:ext cx="12374575" cy="164592"/>
          </a:xfrm>
          <a:prstGeom prst="roundRect">
            <a:avLst>
              <a:gd name="adj" fmla="val 3000"/>
            </a:avLst>
          </a:prstGeom>
          <a:solidFill>
            <a:srgbClr val="1F5F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41148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77857E"/>
                </a:solidFill>
                <a:latin typeface="Calibri"/>
              </a:rPr>
              <a:t>CARD 03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685800"/>
            <a:ext cx="78638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>
                <a:solidFill>
                  <a:srgbClr val="15211D"/>
                </a:solidFill>
                <a:latin typeface="Calibri"/>
              </a:rPr>
              <a:t>Óbitos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188720"/>
            <a:ext cx="7680960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150" b="0">
                <a:solidFill>
                  <a:srgbClr val="47554F"/>
                </a:solidFill>
                <a:latin typeface="Calibri"/>
              </a:rPr>
              <a:t>Detalhamento clínico das saídas por óbito registradas no card 01 (1.4). Serve à revisão de caso, não à contagem — por isso não soma ao painel.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1938528"/>
            <a:ext cx="2606040" cy="1060704"/>
          </a:xfrm>
          <a:prstGeom prst="roundRect">
            <a:avLst>
              <a:gd name="adj" fmla="val 3000"/>
            </a:avLst>
          </a:prstGeom>
          <a:solidFill>
            <a:srgbClr val="E4EFEA"/>
          </a:solidFill>
          <a:ln w="9525">
            <a:solidFill>
              <a:srgbClr val="E0E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41832" y="2057400"/>
            <a:ext cx="23317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1">
                <a:solidFill>
                  <a:srgbClr val="77857E"/>
                </a:solidFill>
                <a:latin typeface="Calibri"/>
              </a:rPr>
              <a:t>ÓBITOS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41832" y="2267712"/>
            <a:ext cx="23317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100" b="1">
                <a:solidFill>
                  <a:srgbClr val="1F5F52"/>
                </a:solidFill>
                <a:latin typeface="Calibri"/>
              </a:rPr>
              <a:t>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41832" y="2651760"/>
            <a:ext cx="23317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95000"/>
              </a:lnSpc>
            </a:pPr>
            <a:r>
              <a:rPr sz="900" b="0">
                <a:solidFill>
                  <a:srgbClr val="77857E"/>
                </a:solidFill>
                <a:latin typeface="Calibri"/>
              </a:rPr>
              <a:t>espelho de 1.4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511296" y="1938528"/>
            <a:ext cx="2606040" cy="1060704"/>
          </a:xfrm>
          <a:prstGeom prst="roundRect">
            <a:avLst>
              <a:gd name="adj" fmla="val 3000"/>
            </a:avLst>
          </a:prstGeom>
          <a:solidFill>
            <a:srgbClr val="FAFBFA"/>
          </a:solidFill>
          <a:ln w="9525">
            <a:solidFill>
              <a:srgbClr val="E0E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75888" y="2057400"/>
            <a:ext cx="23317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1">
                <a:solidFill>
                  <a:srgbClr val="77857E"/>
                </a:solidFill>
                <a:latin typeface="Calibri"/>
              </a:rPr>
              <a:t>COM PLANO PALIATIVO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75888" y="2267712"/>
            <a:ext cx="23317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100" b="1">
                <a:solidFill>
                  <a:srgbClr val="15211D"/>
                </a:solidFill>
                <a:latin typeface="Calibri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75888" y="2651760"/>
            <a:ext cx="23317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95000"/>
              </a:lnSpc>
            </a:pPr>
            <a:r>
              <a:rPr sz="900" b="0">
                <a:solidFill>
                  <a:srgbClr val="77857E"/>
                </a:solidFill>
                <a:latin typeface="Calibri"/>
              </a:rPr>
              <a:t>3.1 — formalizado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45352" y="1938528"/>
            <a:ext cx="2606040" cy="1060704"/>
          </a:xfrm>
          <a:prstGeom prst="roundRect">
            <a:avLst>
              <a:gd name="adj" fmla="val 3000"/>
            </a:avLst>
          </a:prstGeom>
          <a:solidFill>
            <a:srgbClr val="F6E9E4"/>
          </a:solidFill>
          <a:ln w="9525">
            <a:solidFill>
              <a:srgbClr val="A3462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9944" y="2057400"/>
            <a:ext cx="23317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1">
                <a:solidFill>
                  <a:srgbClr val="77857E"/>
                </a:solidFill>
                <a:latin typeface="Calibri"/>
              </a:rPr>
              <a:t>NÃO ESPERADOS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9944" y="2267712"/>
            <a:ext cx="23317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100" b="1">
                <a:solidFill>
                  <a:srgbClr val="A3462F"/>
                </a:solidFill>
                <a:latin typeface="Calibri"/>
              </a:rPr>
              <a:t>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9944" y="2651760"/>
            <a:ext cx="23317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95000"/>
              </a:lnSpc>
            </a:pPr>
            <a:r>
              <a:rPr sz="900" b="0">
                <a:solidFill>
                  <a:srgbClr val="77857E"/>
                </a:solidFill>
                <a:latin typeface="Calibri"/>
              </a:rPr>
              <a:t>3.3 — revisão obrigatória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979408" y="1938528"/>
            <a:ext cx="2606040" cy="1060704"/>
          </a:xfrm>
          <a:prstGeom prst="roundRect">
            <a:avLst>
              <a:gd name="adj" fmla="val 3000"/>
            </a:avLst>
          </a:prstGeom>
          <a:solidFill>
            <a:srgbClr val="F6E9E4"/>
          </a:solidFill>
          <a:ln w="9525">
            <a:solidFill>
              <a:srgbClr val="A3462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144000" y="2057400"/>
            <a:ext cx="23317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1">
                <a:solidFill>
                  <a:srgbClr val="77857E"/>
                </a:solidFill>
                <a:latin typeface="Calibri"/>
              </a:rPr>
              <a:t>EM ATÉ 48H DA ADMISSÃO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44000" y="2267712"/>
            <a:ext cx="23317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100" b="1">
                <a:solidFill>
                  <a:srgbClr val="A3462F"/>
                </a:solidFill>
                <a:latin typeface="Calibri"/>
              </a:rPr>
              <a:t>1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44000" y="2651760"/>
            <a:ext cx="23317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95000"/>
              </a:lnSpc>
            </a:pPr>
            <a:r>
              <a:rPr sz="900" b="0">
                <a:solidFill>
                  <a:srgbClr val="77857E"/>
                </a:solidFill>
                <a:latin typeface="Calibri"/>
              </a:rPr>
              <a:t>alerta para a diretoria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77240" y="3200400"/>
            <a:ext cx="512064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b="1">
                <a:solidFill>
                  <a:srgbClr val="77857E"/>
                </a:solidFill>
                <a:latin typeface="Calibri"/>
              </a:rPr>
              <a:t>EVOLUÇÃO MENSAL</a:t>
            </a:r>
          </a:p>
        </p:txBody>
      </p:sp>
      <p:graphicFrame>
        <p:nvGraphicFramePr>
          <p:cNvPr id="23" name="Chart 22"/>
          <p:cNvGraphicFramePr>
            <a:graphicFrameLocks noGrp="1"/>
          </p:cNvGraphicFramePr>
          <p:nvPr/>
        </p:nvGraphicFramePr>
        <p:xfrm>
          <a:off x="640080" y="3401568"/>
          <a:ext cx="5394960" cy="265176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24" name="TextBox 23"/>
          <p:cNvSpPr txBox="1"/>
          <p:nvPr/>
        </p:nvSpPr>
        <p:spPr>
          <a:xfrm>
            <a:off x="6355080" y="3200400"/>
            <a:ext cx="493776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b="1">
                <a:solidFill>
                  <a:srgbClr val="77857E"/>
                </a:solidFill>
                <a:latin typeface="Calibri"/>
              </a:rPr>
              <a:t>POR SUBCATEGORIA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355080" y="3474720"/>
            <a:ext cx="36576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47554F"/>
                </a:solidFill>
                <a:latin typeface="Calibri"/>
              </a:rPr>
              <a:t>3.1 Esperado, com plano paliativo formalizado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0058400" y="3538727"/>
            <a:ext cx="914400" cy="109728"/>
          </a:xfrm>
          <a:prstGeom prst="roundRect">
            <a:avLst>
              <a:gd name="adj" fmla="val 3000"/>
            </a:avLst>
          </a:prstGeom>
          <a:solidFill>
            <a:srgbClr val="1F5F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1018520" y="3465576"/>
            <a:ext cx="9144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050" b="1">
                <a:solidFill>
                  <a:srgbClr val="15211D"/>
                </a:solidFill>
                <a:latin typeface="Calibri"/>
              </a:rPr>
              <a:t>1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355080" y="3831335"/>
            <a:ext cx="36576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47554F"/>
                </a:solidFill>
                <a:latin typeface="Calibri"/>
              </a:rPr>
              <a:t>3.2 Esperado, sem plano formalizado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10058400" y="3895344"/>
            <a:ext cx="914400" cy="109728"/>
          </a:xfrm>
          <a:prstGeom prst="roundRect">
            <a:avLst>
              <a:gd name="adj" fmla="val 3000"/>
            </a:avLst>
          </a:prstGeom>
          <a:solidFill>
            <a:srgbClr val="1F5F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1018520" y="3822191"/>
            <a:ext cx="9144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050" b="1">
                <a:solidFill>
                  <a:srgbClr val="15211D"/>
                </a:solidFill>
                <a:latin typeface="Calibri"/>
              </a:rPr>
              <a:t>1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355080" y="4187951"/>
            <a:ext cx="36576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47554F"/>
                </a:solidFill>
                <a:latin typeface="Calibri"/>
              </a:rPr>
              <a:t>3.3 Não esperado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10058400" y="4251959"/>
            <a:ext cx="914400" cy="109728"/>
          </a:xfrm>
          <a:prstGeom prst="roundRect">
            <a:avLst>
              <a:gd name="adj" fmla="val 3000"/>
            </a:avLst>
          </a:prstGeom>
          <a:solidFill>
            <a:srgbClr val="1F5F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1018520" y="4178807"/>
            <a:ext cx="9144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050" b="1">
                <a:solidFill>
                  <a:srgbClr val="15211D"/>
                </a:solidFill>
                <a:latin typeface="Calibri"/>
              </a:rPr>
              <a:t>1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777240" y="6181344"/>
            <a:ext cx="10607040" cy="457200"/>
          </a:xfrm>
          <a:prstGeom prst="roundRect">
            <a:avLst>
              <a:gd name="adj" fmla="val 3000"/>
            </a:avLst>
          </a:prstGeom>
          <a:solidFill>
            <a:srgbClr val="F6E9E4"/>
          </a:solidFill>
          <a:ln w="9525">
            <a:solidFill>
              <a:srgbClr val="A3462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60120" y="6300216"/>
            <a:ext cx="102412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A3462F"/>
                </a:solidFill>
                <a:latin typeface="Calibri"/>
              </a:rPr>
              <a:t>3 pendências em aberto · Alerta de revisão de caso enviado à diretoria médica. Disparado por óbito em até 48h da admiss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-91440" y="-91440"/>
            <a:ext cx="12374575" cy="164592"/>
          </a:xfrm>
          <a:prstGeom prst="roundRect">
            <a:avLst>
              <a:gd name="adj" fmla="val 3000"/>
            </a:avLst>
          </a:prstGeom>
          <a:solidFill>
            <a:srgbClr val="1F5F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41148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77857E"/>
                </a:solidFill>
                <a:latin typeface="Calibri"/>
              </a:rPr>
              <a:t>CARD 04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685800"/>
            <a:ext cx="78638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>
                <a:solidFill>
                  <a:srgbClr val="15211D"/>
                </a:solidFill>
                <a:latin typeface="Calibri"/>
              </a:rPr>
              <a:t>Adequação e Execução do PAD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188720"/>
            <a:ext cx="7680960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150" b="0">
                <a:solidFill>
                  <a:srgbClr val="47554F"/>
                </a:solidFill>
                <a:latin typeface="Calibri"/>
              </a:rPr>
              <a:t>Duas coisas no mesmo card: as alterações do plano (4.1 a 4.4) e a execução do mês — previstos contra realizados.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351215" y="640080"/>
            <a:ext cx="3063240" cy="822960"/>
          </a:xfrm>
          <a:prstGeom prst="roundRect">
            <a:avLst>
              <a:gd name="adj" fmla="val 3000"/>
            </a:avLst>
          </a:prstGeom>
          <a:solidFill>
            <a:srgbClr val="E4EFEA"/>
          </a:solidFill>
          <a:ln w="9525">
            <a:solidFill>
              <a:srgbClr val="1F5F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506663" y="768096"/>
            <a:ext cx="2752344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1">
                <a:solidFill>
                  <a:srgbClr val="1F5F52"/>
                </a:solidFill>
                <a:latin typeface="Calibri"/>
              </a:rPr>
              <a:t>META ATINGIDA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06663" y="987552"/>
            <a:ext cx="2752344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>
                <a:solidFill>
                  <a:srgbClr val="47554F"/>
                </a:solidFill>
                <a:latin typeface="Calibri"/>
              </a:rPr>
              <a:t>Aderência ao PAD ≥ 90%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77240" y="1938528"/>
            <a:ext cx="2606040" cy="1060704"/>
          </a:xfrm>
          <a:prstGeom prst="roundRect">
            <a:avLst>
              <a:gd name="adj" fmla="val 3000"/>
            </a:avLst>
          </a:prstGeom>
          <a:solidFill>
            <a:srgbClr val="E4EFEA"/>
          </a:solidFill>
          <a:ln w="9525">
            <a:solidFill>
              <a:srgbClr val="E0E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41832" y="2057400"/>
            <a:ext cx="23317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1">
                <a:solidFill>
                  <a:srgbClr val="77857E"/>
                </a:solidFill>
                <a:latin typeface="Calibri"/>
              </a:rPr>
              <a:t>ALTERAÇÕES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41832" y="2267712"/>
            <a:ext cx="23317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100" b="1">
                <a:solidFill>
                  <a:srgbClr val="1F5F52"/>
                </a:solidFill>
                <a:latin typeface="Calibri"/>
              </a:rPr>
              <a:t>7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41832" y="2651760"/>
            <a:ext cx="23317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95000"/>
              </a:lnSpc>
            </a:pPr>
            <a:r>
              <a:rPr sz="900" b="0">
                <a:solidFill>
                  <a:srgbClr val="77857E"/>
                </a:solidFill>
                <a:latin typeface="Calibri"/>
              </a:rPr>
              <a:t>no mês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511296" y="1938528"/>
            <a:ext cx="2606040" cy="1060704"/>
          </a:xfrm>
          <a:prstGeom prst="roundRect">
            <a:avLst>
              <a:gd name="adj" fmla="val 3000"/>
            </a:avLst>
          </a:prstGeom>
          <a:solidFill>
            <a:srgbClr val="FAFBFA"/>
          </a:solidFill>
          <a:ln w="9525">
            <a:solidFill>
              <a:srgbClr val="E0E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675888" y="2057400"/>
            <a:ext cx="23317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1">
                <a:solidFill>
                  <a:srgbClr val="77857E"/>
                </a:solidFill>
                <a:latin typeface="Calibri"/>
              </a:rPr>
              <a:t>ATENDIMENTOS PREVISTOS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75888" y="2267712"/>
            <a:ext cx="23317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100" b="1">
                <a:solidFill>
                  <a:srgbClr val="15211D"/>
                </a:solidFill>
                <a:latin typeface="Calibri"/>
              </a:rPr>
              <a:t>1.284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75888" y="2651760"/>
            <a:ext cx="23317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95000"/>
              </a:lnSpc>
            </a:pPr>
            <a:r>
              <a:rPr sz="900" b="0">
                <a:solidFill>
                  <a:srgbClr val="77857E"/>
                </a:solidFill>
                <a:latin typeface="Calibri"/>
              </a:rPr>
              <a:t>conforme PAD vigente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45352" y="1938528"/>
            <a:ext cx="2606040" cy="1060704"/>
          </a:xfrm>
          <a:prstGeom prst="roundRect">
            <a:avLst>
              <a:gd name="adj" fmla="val 3000"/>
            </a:avLst>
          </a:prstGeom>
          <a:solidFill>
            <a:srgbClr val="FAFBFA"/>
          </a:solidFill>
          <a:ln w="9525">
            <a:solidFill>
              <a:srgbClr val="E0E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9944" y="2057400"/>
            <a:ext cx="23317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1">
                <a:solidFill>
                  <a:srgbClr val="77857E"/>
                </a:solidFill>
                <a:latin typeface="Calibri"/>
              </a:rPr>
              <a:t>ATENDIMENTOS REALIZADOS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9944" y="2267712"/>
            <a:ext cx="23317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100" b="1">
                <a:solidFill>
                  <a:srgbClr val="15211D"/>
                </a:solidFill>
                <a:latin typeface="Calibri"/>
              </a:rPr>
              <a:t>1.173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9944" y="2651760"/>
            <a:ext cx="23317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95000"/>
              </a:lnSpc>
            </a:pPr>
            <a:r>
              <a:rPr sz="900" b="0">
                <a:solidFill>
                  <a:srgbClr val="77857E"/>
                </a:solidFill>
                <a:latin typeface="Calibri"/>
              </a:rPr>
              <a:t>111 não realizados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979408" y="1938528"/>
            <a:ext cx="2606040" cy="1060704"/>
          </a:xfrm>
          <a:prstGeom prst="roundRect">
            <a:avLst>
              <a:gd name="adj" fmla="val 3000"/>
            </a:avLst>
          </a:prstGeom>
          <a:solidFill>
            <a:srgbClr val="FAFBFA"/>
          </a:solidFill>
          <a:ln w="9525">
            <a:solidFill>
              <a:srgbClr val="E0E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144000" y="2057400"/>
            <a:ext cx="23317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1">
                <a:solidFill>
                  <a:srgbClr val="77857E"/>
                </a:solidFill>
                <a:latin typeface="Calibri"/>
              </a:rPr>
              <a:t>ADERÊNCIA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44000" y="2267712"/>
            <a:ext cx="23317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100" b="1">
                <a:solidFill>
                  <a:srgbClr val="15211D"/>
                </a:solidFill>
                <a:latin typeface="Calibri"/>
              </a:rPr>
              <a:t>91,4%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44000" y="2651760"/>
            <a:ext cx="23317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95000"/>
              </a:lnSpc>
            </a:pPr>
            <a:r>
              <a:rPr sz="900" b="0">
                <a:solidFill>
                  <a:srgbClr val="77857E"/>
                </a:solidFill>
                <a:latin typeface="Calibri"/>
              </a:rPr>
              <a:t>realizados / previstos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77240" y="3200400"/>
            <a:ext cx="512064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b="1">
                <a:solidFill>
                  <a:srgbClr val="77857E"/>
                </a:solidFill>
                <a:latin typeface="Calibri"/>
              </a:rPr>
              <a:t>EVOLUÇÃO MENSAL</a:t>
            </a:r>
          </a:p>
        </p:txBody>
      </p:sp>
      <p:graphicFrame>
        <p:nvGraphicFramePr>
          <p:cNvPr id="26" name="Chart 25"/>
          <p:cNvGraphicFramePr>
            <a:graphicFrameLocks noGrp="1"/>
          </p:cNvGraphicFramePr>
          <p:nvPr/>
        </p:nvGraphicFramePr>
        <p:xfrm>
          <a:off x="640080" y="3401568"/>
          <a:ext cx="5394960" cy="265176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27" name="TextBox 26"/>
          <p:cNvSpPr txBox="1"/>
          <p:nvPr/>
        </p:nvSpPr>
        <p:spPr>
          <a:xfrm>
            <a:off x="6355080" y="3200400"/>
            <a:ext cx="493776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b="1">
                <a:solidFill>
                  <a:srgbClr val="77857E"/>
                </a:solidFill>
                <a:latin typeface="Calibri"/>
              </a:rPr>
              <a:t>POR SUBCATEGORIA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355080" y="3474720"/>
            <a:ext cx="36576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47554F"/>
                </a:solidFill>
                <a:latin typeface="Calibri"/>
              </a:rPr>
              <a:t>4.1 Ampliação do plano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10058400" y="3538727"/>
            <a:ext cx="914400" cy="109728"/>
          </a:xfrm>
          <a:prstGeom prst="roundRect">
            <a:avLst>
              <a:gd name="adj" fmla="val 3000"/>
            </a:avLst>
          </a:prstGeom>
          <a:solidFill>
            <a:srgbClr val="1F5F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1018520" y="3465576"/>
            <a:ext cx="9144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050" b="1">
                <a:solidFill>
                  <a:srgbClr val="15211D"/>
                </a:solidFill>
                <a:latin typeface="Calibri"/>
              </a:rPr>
              <a:t>2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355080" y="3831335"/>
            <a:ext cx="36576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47554F"/>
                </a:solidFill>
                <a:latin typeface="Calibri"/>
              </a:rPr>
              <a:t>4.2 Redução do plano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10058400" y="3895344"/>
            <a:ext cx="914400" cy="109728"/>
          </a:xfrm>
          <a:prstGeom prst="roundRect">
            <a:avLst>
              <a:gd name="adj" fmla="val 3000"/>
            </a:avLst>
          </a:prstGeom>
          <a:solidFill>
            <a:srgbClr val="1F5F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1018520" y="3822191"/>
            <a:ext cx="9144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050" b="1">
                <a:solidFill>
                  <a:srgbClr val="15211D"/>
                </a:solidFill>
                <a:latin typeface="Calibri"/>
              </a:rPr>
              <a:t>2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355080" y="4187951"/>
            <a:ext cx="36576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47554F"/>
                </a:solidFill>
                <a:latin typeface="Calibri"/>
              </a:rPr>
              <a:t>4.3 Mudança de modalidade AD ↔ ID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10058400" y="4251959"/>
            <a:ext cx="914400" cy="109728"/>
          </a:xfrm>
          <a:prstGeom prst="roundRect">
            <a:avLst>
              <a:gd name="adj" fmla="val 3000"/>
            </a:avLst>
          </a:prstGeom>
          <a:solidFill>
            <a:srgbClr val="1F5F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1018520" y="4178807"/>
            <a:ext cx="9144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050" b="1">
                <a:solidFill>
                  <a:srgbClr val="15211D"/>
                </a:solidFill>
                <a:latin typeface="Calibri"/>
              </a:rPr>
              <a:t>2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355080" y="4544567"/>
            <a:ext cx="36576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47554F"/>
                </a:solidFill>
                <a:latin typeface="Calibri"/>
              </a:rPr>
              <a:t>4.4 Suspensão ou encerramento do plano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10058400" y="4608575"/>
            <a:ext cx="457200" cy="109728"/>
          </a:xfrm>
          <a:prstGeom prst="roundRect">
            <a:avLst>
              <a:gd name="adj" fmla="val 3000"/>
            </a:avLst>
          </a:prstGeom>
          <a:solidFill>
            <a:srgbClr val="1F5F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1018520" y="4535423"/>
            <a:ext cx="9144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050" b="1">
                <a:solidFill>
                  <a:srgbClr val="15211D"/>
                </a:solidFill>
                <a:latin typeface="Calibri"/>
              </a:rPr>
              <a:t>1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-91440" y="-91440"/>
            <a:ext cx="12374575" cy="164592"/>
          </a:xfrm>
          <a:prstGeom prst="roundRect">
            <a:avLst>
              <a:gd name="adj" fmla="val 3000"/>
            </a:avLst>
          </a:prstGeom>
          <a:solidFill>
            <a:srgbClr val="1F5F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41148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77857E"/>
                </a:solidFill>
                <a:latin typeface="Calibri"/>
              </a:rPr>
              <a:t>CARD 05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685800"/>
            <a:ext cx="78638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>
                <a:solidFill>
                  <a:srgbClr val="15211D"/>
                </a:solidFill>
                <a:latin typeface="Calibri"/>
              </a:rPr>
              <a:t>Eventos Adversos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188720"/>
            <a:ext cx="7680960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150" b="0">
                <a:solidFill>
                  <a:srgbClr val="47554F"/>
                </a:solidFill>
                <a:latin typeface="Calibri"/>
              </a:rPr>
              <a:t>Lesão por pressão saiu deste card e passou para o 06, como episódio próprio. O que fica aqui são eventos pontuais, com grau de dano e prazo de análise causal de 7 dias.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351215" y="640080"/>
            <a:ext cx="3063240" cy="822960"/>
          </a:xfrm>
          <a:prstGeom prst="roundRect">
            <a:avLst>
              <a:gd name="adj" fmla="val 3000"/>
            </a:avLst>
          </a:prstGeom>
          <a:solidFill>
            <a:srgbClr val="F6E9E4"/>
          </a:solidFill>
          <a:ln w="9525">
            <a:solidFill>
              <a:srgbClr val="A3462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506663" y="768096"/>
            <a:ext cx="2752344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1">
                <a:solidFill>
                  <a:srgbClr val="A3462F"/>
                </a:solidFill>
                <a:latin typeface="Calibri"/>
              </a:rPr>
              <a:t>META NÃO ATINGIDA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06663" y="987552"/>
            <a:ext cx="2752344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>
                <a:solidFill>
                  <a:srgbClr val="47554F"/>
                </a:solidFill>
                <a:latin typeface="Calibri"/>
              </a:rPr>
              <a:t>Eventos com dano grave ou óbito = 0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77240" y="1938528"/>
            <a:ext cx="2606040" cy="1060704"/>
          </a:xfrm>
          <a:prstGeom prst="roundRect">
            <a:avLst>
              <a:gd name="adj" fmla="val 3000"/>
            </a:avLst>
          </a:prstGeom>
          <a:solidFill>
            <a:srgbClr val="E4EFEA"/>
          </a:solidFill>
          <a:ln w="9525">
            <a:solidFill>
              <a:srgbClr val="E0E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41832" y="2057400"/>
            <a:ext cx="23317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1">
                <a:solidFill>
                  <a:srgbClr val="77857E"/>
                </a:solidFill>
                <a:latin typeface="Calibri"/>
              </a:rPr>
              <a:t>EVENTOS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41832" y="2267712"/>
            <a:ext cx="23317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100" b="1">
                <a:solidFill>
                  <a:srgbClr val="1F5F52"/>
                </a:solidFill>
                <a:latin typeface="Calibri"/>
              </a:rPr>
              <a:t>8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41832" y="2651760"/>
            <a:ext cx="23317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95000"/>
              </a:lnSpc>
            </a:pPr>
            <a:r>
              <a:rPr sz="900" b="0">
                <a:solidFill>
                  <a:srgbClr val="77857E"/>
                </a:solidFill>
                <a:latin typeface="Calibri"/>
              </a:rPr>
              <a:t>no mês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511296" y="1938528"/>
            <a:ext cx="2606040" cy="1060704"/>
          </a:xfrm>
          <a:prstGeom prst="roundRect">
            <a:avLst>
              <a:gd name="adj" fmla="val 3000"/>
            </a:avLst>
          </a:prstGeom>
          <a:solidFill>
            <a:srgbClr val="F6E9E4"/>
          </a:solidFill>
          <a:ln w="9525">
            <a:solidFill>
              <a:srgbClr val="A3462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675888" y="2057400"/>
            <a:ext cx="23317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1">
                <a:solidFill>
                  <a:srgbClr val="77857E"/>
                </a:solidFill>
                <a:latin typeface="Calibri"/>
              </a:rPr>
              <a:t>COM DANO GRAVE OU ÓBITO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75888" y="2267712"/>
            <a:ext cx="23317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100" b="1">
                <a:solidFill>
                  <a:srgbClr val="A3462F"/>
                </a:solidFill>
                <a:latin typeface="Calibri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75888" y="2651760"/>
            <a:ext cx="23317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95000"/>
              </a:lnSpc>
            </a:pPr>
            <a:r>
              <a:rPr sz="900" b="0">
                <a:solidFill>
                  <a:srgbClr val="77857E"/>
                </a:solidFill>
                <a:latin typeface="Calibri"/>
              </a:rPr>
              <a:t>revisão obrigatória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45352" y="1938528"/>
            <a:ext cx="2606040" cy="1060704"/>
          </a:xfrm>
          <a:prstGeom prst="roundRect">
            <a:avLst>
              <a:gd name="adj" fmla="val 3000"/>
            </a:avLst>
          </a:prstGeom>
          <a:solidFill>
            <a:srgbClr val="FAFBFA"/>
          </a:solidFill>
          <a:ln w="9525">
            <a:solidFill>
              <a:srgbClr val="E0E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9944" y="2057400"/>
            <a:ext cx="23317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1">
                <a:solidFill>
                  <a:srgbClr val="77857E"/>
                </a:solidFill>
                <a:latin typeface="Calibri"/>
              </a:rPr>
              <a:t>NEAR MISS (5.9)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9944" y="2267712"/>
            <a:ext cx="23317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100" b="1">
                <a:solidFill>
                  <a:srgbClr val="15211D"/>
                </a:solidFill>
                <a:latin typeface="Calibri"/>
              </a:rPr>
              <a:t>1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9944" y="2651760"/>
            <a:ext cx="23317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95000"/>
              </a:lnSpc>
            </a:pPr>
            <a:r>
              <a:rPr sz="900" b="0">
                <a:solidFill>
                  <a:srgbClr val="77857E"/>
                </a:solidFill>
                <a:latin typeface="Calibri"/>
              </a:rPr>
              <a:t>não atingiu o paciente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979408" y="1938528"/>
            <a:ext cx="2606040" cy="1060704"/>
          </a:xfrm>
          <a:prstGeom prst="roundRect">
            <a:avLst>
              <a:gd name="adj" fmla="val 3000"/>
            </a:avLst>
          </a:prstGeom>
          <a:solidFill>
            <a:srgbClr val="F6E9E4"/>
          </a:solidFill>
          <a:ln w="9525">
            <a:solidFill>
              <a:srgbClr val="A3462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144000" y="2057400"/>
            <a:ext cx="23317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1">
                <a:solidFill>
                  <a:srgbClr val="77857E"/>
                </a:solidFill>
                <a:latin typeface="Calibri"/>
              </a:rPr>
              <a:t>ANÁLISE CAUSAL VENCIDA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44000" y="2267712"/>
            <a:ext cx="23317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100" b="1">
                <a:solidFill>
                  <a:srgbClr val="A3462F"/>
                </a:solidFill>
                <a:latin typeface="Calibri"/>
              </a:rPr>
              <a:t>1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44000" y="2651760"/>
            <a:ext cx="23317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95000"/>
              </a:lnSpc>
            </a:pPr>
            <a:r>
              <a:rPr sz="900" b="0">
                <a:solidFill>
                  <a:srgbClr val="77857E"/>
                </a:solidFill>
                <a:latin typeface="Calibri"/>
              </a:rPr>
              <a:t>prazo de 7 dias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77240" y="3200400"/>
            <a:ext cx="512064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b="1">
                <a:solidFill>
                  <a:srgbClr val="77857E"/>
                </a:solidFill>
                <a:latin typeface="Calibri"/>
              </a:rPr>
              <a:t>EVOLUÇÃO MENSAL</a:t>
            </a:r>
          </a:p>
        </p:txBody>
      </p:sp>
      <p:graphicFrame>
        <p:nvGraphicFramePr>
          <p:cNvPr id="26" name="Chart 25"/>
          <p:cNvGraphicFramePr>
            <a:graphicFrameLocks noGrp="1"/>
          </p:cNvGraphicFramePr>
          <p:nvPr/>
        </p:nvGraphicFramePr>
        <p:xfrm>
          <a:off x="640080" y="3401568"/>
          <a:ext cx="5394960" cy="265176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27" name="TextBox 26"/>
          <p:cNvSpPr txBox="1"/>
          <p:nvPr/>
        </p:nvSpPr>
        <p:spPr>
          <a:xfrm>
            <a:off x="6355080" y="3200400"/>
            <a:ext cx="493776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b="1">
                <a:solidFill>
                  <a:srgbClr val="77857E"/>
                </a:solidFill>
                <a:latin typeface="Calibri"/>
              </a:rPr>
              <a:t>POR SUBCATEGORIA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355080" y="3474720"/>
            <a:ext cx="36576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47554F"/>
                </a:solidFill>
                <a:latin typeface="Calibri"/>
              </a:rPr>
              <a:t>5.1 Queda sem dano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10058400" y="3538727"/>
            <a:ext cx="914400" cy="109728"/>
          </a:xfrm>
          <a:prstGeom prst="roundRect">
            <a:avLst>
              <a:gd name="adj" fmla="val 3000"/>
            </a:avLst>
          </a:prstGeom>
          <a:solidFill>
            <a:srgbClr val="1F5F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1018520" y="3465576"/>
            <a:ext cx="9144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050" b="1">
                <a:solidFill>
                  <a:srgbClr val="15211D"/>
                </a:solidFill>
                <a:latin typeface="Calibri"/>
              </a:rPr>
              <a:t>1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355080" y="3831335"/>
            <a:ext cx="36576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47554F"/>
                </a:solidFill>
                <a:latin typeface="Calibri"/>
              </a:rPr>
              <a:t>5.2 Queda com dano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10058400" y="3895344"/>
            <a:ext cx="914400" cy="109728"/>
          </a:xfrm>
          <a:prstGeom prst="roundRect">
            <a:avLst>
              <a:gd name="adj" fmla="val 3000"/>
            </a:avLst>
          </a:prstGeom>
          <a:solidFill>
            <a:srgbClr val="1F5F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1018520" y="3822191"/>
            <a:ext cx="9144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050" b="1">
                <a:solidFill>
                  <a:srgbClr val="15211D"/>
                </a:solidFill>
                <a:latin typeface="Calibri"/>
              </a:rPr>
              <a:t>1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355080" y="4187951"/>
            <a:ext cx="36576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47554F"/>
                </a:solidFill>
                <a:latin typeface="Calibri"/>
              </a:rPr>
              <a:t>5.3 Broncoaspiração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10058400" y="4251959"/>
            <a:ext cx="914400" cy="109728"/>
          </a:xfrm>
          <a:prstGeom prst="roundRect">
            <a:avLst>
              <a:gd name="adj" fmla="val 3000"/>
            </a:avLst>
          </a:prstGeom>
          <a:solidFill>
            <a:srgbClr val="1F5F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1018520" y="4178807"/>
            <a:ext cx="9144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050" b="1">
                <a:solidFill>
                  <a:srgbClr val="15211D"/>
                </a:solidFill>
                <a:latin typeface="Calibri"/>
              </a:rPr>
              <a:t>1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355080" y="4544567"/>
            <a:ext cx="36576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47554F"/>
                </a:solidFill>
                <a:latin typeface="Calibri"/>
              </a:rPr>
              <a:t>5.4 Decanulação acidental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10058400" y="4608575"/>
            <a:ext cx="914400" cy="109728"/>
          </a:xfrm>
          <a:prstGeom prst="roundRect">
            <a:avLst>
              <a:gd name="adj" fmla="val 3000"/>
            </a:avLst>
          </a:prstGeom>
          <a:solidFill>
            <a:srgbClr val="1F5F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1018520" y="4535423"/>
            <a:ext cx="9144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050" b="1">
                <a:solidFill>
                  <a:srgbClr val="15211D"/>
                </a:solidFill>
                <a:latin typeface="Calibri"/>
              </a:rPr>
              <a:t>1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355080" y="4901183"/>
            <a:ext cx="36576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47554F"/>
                </a:solidFill>
                <a:latin typeface="Calibri"/>
              </a:rPr>
              <a:t>5.5 Saída acidental de GTT ou SNE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10058400" y="4965191"/>
            <a:ext cx="914400" cy="109728"/>
          </a:xfrm>
          <a:prstGeom prst="roundRect">
            <a:avLst>
              <a:gd name="adj" fmla="val 3000"/>
            </a:avLst>
          </a:prstGeom>
          <a:solidFill>
            <a:srgbClr val="1F5F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11018520" y="4892039"/>
            <a:ext cx="9144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050" b="1">
                <a:solidFill>
                  <a:srgbClr val="15211D"/>
                </a:solidFill>
                <a:latin typeface="Calibri"/>
              </a:rPr>
              <a:t>1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355080" y="5257799"/>
            <a:ext cx="36576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47554F"/>
                </a:solidFill>
                <a:latin typeface="Calibri"/>
              </a:rPr>
              <a:t>5.7 Erro ou omissão de medicação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10058400" y="5321807"/>
            <a:ext cx="914400" cy="109728"/>
          </a:xfrm>
          <a:prstGeom prst="roundRect">
            <a:avLst>
              <a:gd name="adj" fmla="val 3000"/>
            </a:avLst>
          </a:prstGeom>
          <a:solidFill>
            <a:srgbClr val="1F5F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11018520" y="5248655"/>
            <a:ext cx="9144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050" b="1">
                <a:solidFill>
                  <a:srgbClr val="15211D"/>
                </a:solidFill>
                <a:latin typeface="Calibri"/>
              </a:rPr>
              <a:t>1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355080" y="5614415"/>
            <a:ext cx="36576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47554F"/>
                </a:solidFill>
                <a:latin typeface="Calibri"/>
              </a:rPr>
              <a:t>5.8 Falha ou falta de equipamento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10058400" y="5678423"/>
            <a:ext cx="914400" cy="109728"/>
          </a:xfrm>
          <a:prstGeom prst="roundRect">
            <a:avLst>
              <a:gd name="adj" fmla="val 3000"/>
            </a:avLst>
          </a:prstGeom>
          <a:solidFill>
            <a:srgbClr val="1F5F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11018520" y="5605271"/>
            <a:ext cx="9144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050" b="1">
                <a:solidFill>
                  <a:srgbClr val="15211D"/>
                </a:solidFill>
                <a:latin typeface="Calibri"/>
              </a:rPr>
              <a:t>1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777240" y="6181344"/>
            <a:ext cx="10607040" cy="457200"/>
          </a:xfrm>
          <a:prstGeom prst="roundRect">
            <a:avLst>
              <a:gd name="adj" fmla="val 3000"/>
            </a:avLst>
          </a:prstGeom>
          <a:solidFill>
            <a:srgbClr val="F6E9E4"/>
          </a:solidFill>
          <a:ln w="9525">
            <a:solidFill>
              <a:srgbClr val="A3462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960120" y="6300216"/>
            <a:ext cx="102412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A3462F"/>
                </a:solidFill>
                <a:latin typeface="Calibri"/>
              </a:rPr>
              <a:t>3 pendências em aberto · Análise causal vencida. O prazo é de 7 dias a partir da notificação — venceu em 24/08/2026.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-91440" y="-91440"/>
            <a:ext cx="12374575" cy="164592"/>
          </a:xfrm>
          <a:prstGeom prst="roundRect">
            <a:avLst>
              <a:gd name="adj" fmla="val 3000"/>
            </a:avLst>
          </a:prstGeom>
          <a:solidFill>
            <a:srgbClr val="1F5F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41148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77857E"/>
                </a:solidFill>
                <a:latin typeface="Calibri"/>
              </a:rPr>
              <a:t>CARD 06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685800"/>
            <a:ext cx="78638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>
                <a:solidFill>
                  <a:srgbClr val="15211D"/>
                </a:solidFill>
                <a:latin typeface="Calibri"/>
              </a:rPr>
              <a:t>Lesões de Pele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188720"/>
            <a:ext cx="7680960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150" b="0">
                <a:solidFill>
                  <a:srgbClr val="47554F"/>
                </a:solidFill>
                <a:latin typeface="Calibri"/>
              </a:rPr>
              <a:t>Cada lesão é um episódio com abertura, série de avaliações e fechamento — não uma contagem de ocorrências. A origem é derivada da primeira avaliação com foto.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351215" y="640080"/>
            <a:ext cx="3063240" cy="822960"/>
          </a:xfrm>
          <a:prstGeom prst="roundRect">
            <a:avLst>
              <a:gd name="adj" fmla="val 3000"/>
            </a:avLst>
          </a:prstGeom>
          <a:solidFill>
            <a:srgbClr val="F6E9E4"/>
          </a:solidFill>
          <a:ln w="9525">
            <a:solidFill>
              <a:srgbClr val="A3462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506663" y="768096"/>
            <a:ext cx="2752344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1">
                <a:solidFill>
                  <a:srgbClr val="A3462F"/>
                </a:solidFill>
                <a:latin typeface="Calibri"/>
              </a:rPr>
              <a:t>META NÃO ATINGIDA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06663" y="987552"/>
            <a:ext cx="2752344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>
                <a:solidFill>
                  <a:srgbClr val="47554F"/>
                </a:solidFill>
                <a:latin typeface="Calibri"/>
              </a:rPr>
              <a:t>Lesões adquiridas sob assistência ≤ 2 no mês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77240" y="1938528"/>
            <a:ext cx="2606040" cy="1060704"/>
          </a:xfrm>
          <a:prstGeom prst="roundRect">
            <a:avLst>
              <a:gd name="adj" fmla="val 3000"/>
            </a:avLst>
          </a:prstGeom>
          <a:solidFill>
            <a:srgbClr val="E4EFEA"/>
          </a:solidFill>
          <a:ln w="9525">
            <a:solidFill>
              <a:srgbClr val="E0E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41832" y="2057400"/>
            <a:ext cx="23317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1">
                <a:solidFill>
                  <a:srgbClr val="77857E"/>
                </a:solidFill>
                <a:latin typeface="Calibri"/>
              </a:rPr>
              <a:t>LESÕES ATIVAS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41832" y="2267712"/>
            <a:ext cx="23317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100" b="1">
                <a:solidFill>
                  <a:srgbClr val="1F5F52"/>
                </a:solidFill>
                <a:latin typeface="Calibri"/>
              </a:rPr>
              <a:t>7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41832" y="2651760"/>
            <a:ext cx="23317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95000"/>
              </a:lnSpc>
            </a:pPr>
            <a:r>
              <a:rPr sz="900" b="0">
                <a:solidFill>
                  <a:srgbClr val="77857E"/>
                </a:solidFill>
                <a:latin typeface="Calibri"/>
              </a:rPr>
              <a:t>em 118 episódios abertos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511296" y="1938528"/>
            <a:ext cx="2606040" cy="1060704"/>
          </a:xfrm>
          <a:prstGeom prst="roundRect">
            <a:avLst>
              <a:gd name="adj" fmla="val 3000"/>
            </a:avLst>
          </a:prstGeom>
          <a:solidFill>
            <a:srgbClr val="FAFBFA"/>
          </a:solidFill>
          <a:ln w="9525">
            <a:solidFill>
              <a:srgbClr val="E0E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675888" y="2057400"/>
            <a:ext cx="23317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1">
                <a:solidFill>
                  <a:srgbClr val="77857E"/>
                </a:solidFill>
                <a:latin typeface="Calibri"/>
              </a:rPr>
              <a:t>PRESENTE NA ADMISSÃO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75888" y="2267712"/>
            <a:ext cx="23317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100" b="1">
                <a:solidFill>
                  <a:srgbClr val="15211D"/>
                </a:solidFill>
                <a:latin typeface="Calibri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75888" y="2651760"/>
            <a:ext cx="23317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95000"/>
              </a:lnSpc>
            </a:pPr>
            <a:r>
              <a:rPr sz="900" b="0">
                <a:solidFill>
                  <a:srgbClr val="77857E"/>
                </a:solidFill>
                <a:latin typeface="Calibri"/>
              </a:rPr>
              <a:t>não conta como adquirida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45352" y="1938528"/>
            <a:ext cx="2606040" cy="1060704"/>
          </a:xfrm>
          <a:prstGeom prst="roundRect">
            <a:avLst>
              <a:gd name="adj" fmla="val 3000"/>
            </a:avLst>
          </a:prstGeom>
          <a:solidFill>
            <a:srgbClr val="FAFBFA"/>
          </a:solidFill>
          <a:ln w="9525">
            <a:solidFill>
              <a:srgbClr val="E0E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9944" y="2057400"/>
            <a:ext cx="23317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1">
                <a:solidFill>
                  <a:srgbClr val="77857E"/>
                </a:solidFill>
                <a:latin typeface="Calibri"/>
              </a:rPr>
              <a:t>ADQUIRIDA SOB ASSISTÊNCIA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9944" y="2267712"/>
            <a:ext cx="23317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100" b="1">
                <a:solidFill>
                  <a:srgbClr val="15211D"/>
                </a:solidFill>
                <a:latin typeface="Calibri"/>
              </a:rPr>
              <a:t>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9944" y="2651760"/>
            <a:ext cx="23317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95000"/>
              </a:lnSpc>
            </a:pPr>
            <a:r>
              <a:rPr sz="900" b="0">
                <a:solidFill>
                  <a:srgbClr val="77857E"/>
                </a:solidFill>
                <a:latin typeface="Calibri"/>
              </a:rPr>
              <a:t>indicador de resultado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979408" y="1938528"/>
            <a:ext cx="2606040" cy="1060704"/>
          </a:xfrm>
          <a:prstGeom prst="roundRect">
            <a:avLst>
              <a:gd name="adj" fmla="val 3000"/>
            </a:avLst>
          </a:prstGeom>
          <a:solidFill>
            <a:srgbClr val="FAFBFA"/>
          </a:solidFill>
          <a:ln w="9525">
            <a:solidFill>
              <a:srgbClr val="E0E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144000" y="2057400"/>
            <a:ext cx="23317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1">
                <a:solidFill>
                  <a:srgbClr val="77857E"/>
                </a:solidFill>
                <a:latin typeface="Calibri"/>
              </a:rPr>
              <a:t>CICATRIZADAS NO PERÍODO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44000" y="2267712"/>
            <a:ext cx="23317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100" b="1">
                <a:solidFill>
                  <a:srgbClr val="15211D"/>
                </a:solidFill>
                <a:latin typeface="Calibri"/>
              </a:rPr>
              <a:t>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44000" y="2651760"/>
            <a:ext cx="23317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95000"/>
              </a:lnSpc>
            </a:pPr>
            <a:r>
              <a:rPr sz="900" b="0">
                <a:solidFill>
                  <a:srgbClr val="77857E"/>
                </a:solidFill>
                <a:latin typeface="Calibri"/>
              </a:rPr>
              <a:t>fechadas em 08/2026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77240" y="3200400"/>
            <a:ext cx="512064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b="1">
                <a:solidFill>
                  <a:srgbClr val="77857E"/>
                </a:solidFill>
                <a:latin typeface="Calibri"/>
              </a:rPr>
              <a:t>EVOLUÇÃO MENSAL</a:t>
            </a:r>
          </a:p>
        </p:txBody>
      </p:sp>
      <p:graphicFrame>
        <p:nvGraphicFramePr>
          <p:cNvPr id="26" name="Chart 25"/>
          <p:cNvGraphicFramePr>
            <a:graphicFrameLocks noGrp="1"/>
          </p:cNvGraphicFramePr>
          <p:nvPr/>
        </p:nvGraphicFramePr>
        <p:xfrm>
          <a:off x="640080" y="3401568"/>
          <a:ext cx="5394960" cy="265176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27" name="TextBox 26"/>
          <p:cNvSpPr txBox="1"/>
          <p:nvPr/>
        </p:nvSpPr>
        <p:spPr>
          <a:xfrm>
            <a:off x="6355080" y="3200400"/>
            <a:ext cx="493776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b="1">
                <a:solidFill>
                  <a:srgbClr val="77857E"/>
                </a:solidFill>
                <a:latin typeface="Calibri"/>
              </a:rPr>
              <a:t>POR SUBCATEGORIA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355080" y="3474720"/>
            <a:ext cx="36576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47554F"/>
                </a:solidFill>
                <a:latin typeface="Calibri"/>
              </a:rPr>
              <a:t>6.2 LPP estágio 2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10058400" y="3538727"/>
            <a:ext cx="914400" cy="109728"/>
          </a:xfrm>
          <a:prstGeom prst="roundRect">
            <a:avLst>
              <a:gd name="adj" fmla="val 3000"/>
            </a:avLst>
          </a:prstGeom>
          <a:solidFill>
            <a:srgbClr val="1F5F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1018520" y="3465576"/>
            <a:ext cx="9144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050" b="1">
                <a:solidFill>
                  <a:srgbClr val="15211D"/>
                </a:solidFill>
                <a:latin typeface="Calibri"/>
              </a:rPr>
              <a:t>2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355080" y="3831335"/>
            <a:ext cx="36576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47554F"/>
                </a:solidFill>
                <a:latin typeface="Calibri"/>
              </a:rPr>
              <a:t>6.1 LPP estágio 1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10058400" y="3895344"/>
            <a:ext cx="457200" cy="109728"/>
          </a:xfrm>
          <a:prstGeom prst="roundRect">
            <a:avLst>
              <a:gd name="adj" fmla="val 3000"/>
            </a:avLst>
          </a:prstGeom>
          <a:solidFill>
            <a:srgbClr val="1F5F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1018520" y="3822191"/>
            <a:ext cx="9144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050" b="1">
                <a:solidFill>
                  <a:srgbClr val="15211D"/>
                </a:solidFill>
                <a:latin typeface="Calibri"/>
              </a:rPr>
              <a:t>1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355080" y="4187951"/>
            <a:ext cx="36576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47554F"/>
                </a:solidFill>
                <a:latin typeface="Calibri"/>
              </a:rPr>
              <a:t>6.3 LPP estágio 3 ou 4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10058400" y="4251959"/>
            <a:ext cx="457200" cy="109728"/>
          </a:xfrm>
          <a:prstGeom prst="roundRect">
            <a:avLst>
              <a:gd name="adj" fmla="val 3000"/>
            </a:avLst>
          </a:prstGeom>
          <a:solidFill>
            <a:srgbClr val="1F5F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1018520" y="4178807"/>
            <a:ext cx="9144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050" b="1">
                <a:solidFill>
                  <a:srgbClr val="15211D"/>
                </a:solidFill>
                <a:latin typeface="Calibri"/>
              </a:rPr>
              <a:t>1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355080" y="4544567"/>
            <a:ext cx="36576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47554F"/>
                </a:solidFill>
                <a:latin typeface="Calibri"/>
              </a:rPr>
              <a:t>6.4 LPP não classificável ou tissular profunda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10058400" y="4608575"/>
            <a:ext cx="457200" cy="109728"/>
          </a:xfrm>
          <a:prstGeom prst="roundRect">
            <a:avLst>
              <a:gd name="adj" fmla="val 3000"/>
            </a:avLst>
          </a:prstGeom>
          <a:solidFill>
            <a:srgbClr val="1F5F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1018520" y="4535423"/>
            <a:ext cx="9144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050" b="1">
                <a:solidFill>
                  <a:srgbClr val="15211D"/>
                </a:solidFill>
                <a:latin typeface="Calibri"/>
              </a:rPr>
              <a:t>1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355080" y="4901183"/>
            <a:ext cx="36576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47554F"/>
                </a:solidFill>
                <a:latin typeface="Calibri"/>
              </a:rPr>
              <a:t>6.5 Lesão por dispositivo médico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10058400" y="4965191"/>
            <a:ext cx="457200" cy="109728"/>
          </a:xfrm>
          <a:prstGeom prst="roundRect">
            <a:avLst>
              <a:gd name="adj" fmla="val 3000"/>
            </a:avLst>
          </a:prstGeom>
          <a:solidFill>
            <a:srgbClr val="1F5F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11018520" y="4892039"/>
            <a:ext cx="9144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050" b="1">
                <a:solidFill>
                  <a:srgbClr val="15211D"/>
                </a:solidFill>
                <a:latin typeface="Calibri"/>
              </a:rPr>
              <a:t>1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355080" y="5257799"/>
            <a:ext cx="36576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47554F"/>
                </a:solidFill>
                <a:latin typeface="Calibri"/>
              </a:rPr>
              <a:t>6.6 Dermatite associada à incontinência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10058400" y="5321807"/>
            <a:ext cx="457200" cy="109728"/>
          </a:xfrm>
          <a:prstGeom prst="roundRect">
            <a:avLst>
              <a:gd name="adj" fmla="val 3000"/>
            </a:avLst>
          </a:prstGeom>
          <a:solidFill>
            <a:srgbClr val="1F5F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11018520" y="5248655"/>
            <a:ext cx="9144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050" b="1">
                <a:solidFill>
                  <a:srgbClr val="15211D"/>
                </a:solidFill>
                <a:latin typeface="Calibri"/>
              </a:rPr>
              <a:t>1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355080" y="5614415"/>
            <a:ext cx="36576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47554F"/>
                </a:solidFill>
                <a:latin typeface="Calibri"/>
              </a:rPr>
              <a:t>6.7 Úlcera venosa, arterial ou pé diabético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10058400" y="5678423"/>
            <a:ext cx="457200" cy="109728"/>
          </a:xfrm>
          <a:prstGeom prst="roundRect">
            <a:avLst>
              <a:gd name="adj" fmla="val 3000"/>
            </a:avLst>
          </a:prstGeom>
          <a:solidFill>
            <a:srgbClr val="1F5F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11018520" y="5605271"/>
            <a:ext cx="9144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050" b="1">
                <a:solidFill>
                  <a:srgbClr val="15211D"/>
                </a:solidFill>
                <a:latin typeface="Calibri"/>
              </a:rPr>
              <a:t>1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777240" y="6181344"/>
            <a:ext cx="10607040" cy="457200"/>
          </a:xfrm>
          <a:prstGeom prst="roundRect">
            <a:avLst>
              <a:gd name="adj" fmla="val 3000"/>
            </a:avLst>
          </a:prstGeom>
          <a:solidFill>
            <a:srgbClr val="F6E9E4"/>
          </a:solidFill>
          <a:ln w="9525">
            <a:solidFill>
              <a:srgbClr val="A3462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960120" y="6300216"/>
            <a:ext cx="102412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A3462F"/>
                </a:solidFill>
                <a:latin typeface="Calibri"/>
              </a:rPr>
              <a:t>4 pendências em aberto · Sem foto em 48h da implantação. O sistema gravou esta lesão como adquirida sob assistência. An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-91440" y="-91440"/>
            <a:ext cx="12374575" cy="164592"/>
          </a:xfrm>
          <a:prstGeom prst="roundRect">
            <a:avLst>
              <a:gd name="adj" fmla="val 3000"/>
            </a:avLst>
          </a:prstGeom>
          <a:solidFill>
            <a:srgbClr val="1F5F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41148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77857E"/>
                </a:solidFill>
                <a:latin typeface="Calibri"/>
              </a:rPr>
              <a:t>CARD 07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685800"/>
            <a:ext cx="78638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>
                <a:solidFill>
                  <a:srgbClr val="15211D"/>
                </a:solidFill>
                <a:latin typeface="Calibri"/>
              </a:rPr>
              <a:t>Custo e Evitabilidade das Lesões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188720"/>
            <a:ext cx="7680960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150" b="0">
                <a:solidFill>
                  <a:srgbClr val="47554F"/>
                </a:solidFill>
                <a:latin typeface="Calibri"/>
              </a:rPr>
              <a:t>Campo de valor, não contador. Todo lançamento é vinculado a um episódio de lesão do card 06 — nunca solto no paciente.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351215" y="640080"/>
            <a:ext cx="3063240" cy="822960"/>
          </a:xfrm>
          <a:prstGeom prst="roundRect">
            <a:avLst>
              <a:gd name="adj" fmla="val 3000"/>
            </a:avLst>
          </a:prstGeom>
          <a:solidFill>
            <a:srgbClr val="F6E9E4"/>
          </a:solidFill>
          <a:ln w="9525">
            <a:solidFill>
              <a:srgbClr val="A3462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506663" y="768096"/>
            <a:ext cx="2752344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1">
                <a:solidFill>
                  <a:srgbClr val="A3462F"/>
                </a:solidFill>
                <a:latin typeface="Calibri"/>
              </a:rPr>
              <a:t>META NÃO ATINGIDA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06663" y="987552"/>
            <a:ext cx="2752344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>
                <a:solidFill>
                  <a:srgbClr val="47554F"/>
                </a:solidFill>
                <a:latin typeface="Calibri"/>
              </a:rPr>
              <a:t>Custo evitável ≤ 30% do custo do período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77240" y="1938528"/>
            <a:ext cx="2606040" cy="1060704"/>
          </a:xfrm>
          <a:prstGeom prst="roundRect">
            <a:avLst>
              <a:gd name="adj" fmla="val 3000"/>
            </a:avLst>
          </a:prstGeom>
          <a:solidFill>
            <a:srgbClr val="E4EFEA"/>
          </a:solidFill>
          <a:ln w="9525">
            <a:solidFill>
              <a:srgbClr val="E0E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41832" y="2057400"/>
            <a:ext cx="23317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1">
                <a:solidFill>
                  <a:srgbClr val="77857E"/>
                </a:solidFill>
                <a:latin typeface="Calibri"/>
              </a:rPr>
              <a:t>CUSTO DO PERÍODO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41832" y="2267712"/>
            <a:ext cx="23317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100" b="1">
                <a:solidFill>
                  <a:srgbClr val="1F5F52"/>
                </a:solidFill>
                <a:latin typeface="Calibri"/>
              </a:rPr>
              <a:t>R$ 17.565,90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41832" y="2651760"/>
            <a:ext cx="23317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95000"/>
              </a:lnSpc>
            </a:pPr>
            <a:r>
              <a:rPr sz="900" b="0">
                <a:solidFill>
                  <a:srgbClr val="77857E"/>
                </a:solidFill>
                <a:latin typeface="Calibri"/>
              </a:rPr>
              <a:t>todos os episódios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511296" y="1938528"/>
            <a:ext cx="2606040" cy="1060704"/>
          </a:xfrm>
          <a:prstGeom prst="roundRect">
            <a:avLst>
              <a:gd name="adj" fmla="val 3000"/>
            </a:avLst>
          </a:prstGeom>
          <a:solidFill>
            <a:srgbClr val="F6E9E4"/>
          </a:solidFill>
          <a:ln w="9525">
            <a:solidFill>
              <a:srgbClr val="A3462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675888" y="2057400"/>
            <a:ext cx="23317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1">
                <a:solidFill>
                  <a:srgbClr val="77857E"/>
                </a:solidFill>
                <a:latin typeface="Calibri"/>
              </a:rPr>
              <a:t>CUSTO EVITÁVEL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75888" y="2267712"/>
            <a:ext cx="23317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100" b="1">
                <a:solidFill>
                  <a:srgbClr val="A3462F"/>
                </a:solidFill>
                <a:latin typeface="Calibri"/>
              </a:rPr>
              <a:t>70,5%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75888" y="2651760"/>
            <a:ext cx="23317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95000"/>
              </a:lnSpc>
            </a:pPr>
            <a:r>
              <a:rPr sz="900" b="0">
                <a:solidFill>
                  <a:srgbClr val="77857E"/>
                </a:solidFill>
                <a:latin typeface="Calibri"/>
              </a:rPr>
              <a:t>lesões adquiridas sob assistência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45352" y="1938528"/>
            <a:ext cx="2606040" cy="1060704"/>
          </a:xfrm>
          <a:prstGeom prst="roundRect">
            <a:avLst>
              <a:gd name="adj" fmla="val 3000"/>
            </a:avLst>
          </a:prstGeom>
          <a:solidFill>
            <a:srgbClr val="FAFBFA"/>
          </a:solidFill>
          <a:ln w="9525">
            <a:solidFill>
              <a:srgbClr val="E0E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9944" y="2057400"/>
            <a:ext cx="23317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1">
                <a:solidFill>
                  <a:srgbClr val="77857E"/>
                </a:solidFill>
                <a:latin typeface="Calibri"/>
              </a:rPr>
              <a:t>CUSTO POR EPISÓDIO ENCERRADO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9944" y="2267712"/>
            <a:ext cx="23317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100" b="1">
                <a:solidFill>
                  <a:srgbClr val="15211D"/>
                </a:solidFill>
                <a:latin typeface="Calibri"/>
              </a:rPr>
              <a:t>R$ 1.565,55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9944" y="2651760"/>
            <a:ext cx="23317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95000"/>
              </a:lnSpc>
            </a:pPr>
            <a:r>
              <a:rPr sz="900" b="0">
                <a:solidFill>
                  <a:srgbClr val="77857E"/>
                </a:solidFill>
                <a:latin typeface="Calibri"/>
              </a:rPr>
              <a:t>2 episódios fechados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979408" y="1938528"/>
            <a:ext cx="2606040" cy="1060704"/>
          </a:xfrm>
          <a:prstGeom prst="roundRect">
            <a:avLst>
              <a:gd name="adj" fmla="val 3000"/>
            </a:avLst>
          </a:prstGeom>
          <a:solidFill>
            <a:srgbClr val="F6E9E4"/>
          </a:solidFill>
          <a:ln w="9525">
            <a:solidFill>
              <a:srgbClr val="A3462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144000" y="2057400"/>
            <a:ext cx="23317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1">
                <a:solidFill>
                  <a:srgbClr val="77857E"/>
                </a:solidFill>
                <a:latin typeface="Calibri"/>
              </a:rPr>
              <a:t>RISCO DE GLOSA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44000" y="2267712"/>
            <a:ext cx="23317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100" b="1">
                <a:solidFill>
                  <a:srgbClr val="A3462F"/>
                </a:solidFill>
                <a:latin typeface="Calibri"/>
              </a:rPr>
              <a:t>29,2%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44000" y="2651760"/>
            <a:ext cx="23317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95000"/>
              </a:lnSpc>
            </a:pPr>
            <a:r>
              <a:rPr sz="900" b="0">
                <a:solidFill>
                  <a:srgbClr val="77857E"/>
                </a:solidFill>
                <a:latin typeface="Calibri"/>
              </a:rPr>
              <a:t>internação atribuída à lesão adquirida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77240" y="3200400"/>
            <a:ext cx="512064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b="1">
                <a:solidFill>
                  <a:srgbClr val="77857E"/>
                </a:solidFill>
                <a:latin typeface="Calibri"/>
              </a:rPr>
              <a:t>EVOLUÇÃO MENSAL</a:t>
            </a:r>
          </a:p>
        </p:txBody>
      </p:sp>
      <p:graphicFrame>
        <p:nvGraphicFramePr>
          <p:cNvPr id="26" name="Chart 25"/>
          <p:cNvGraphicFramePr>
            <a:graphicFrameLocks noGrp="1"/>
          </p:cNvGraphicFramePr>
          <p:nvPr/>
        </p:nvGraphicFramePr>
        <p:xfrm>
          <a:off x="640080" y="3401568"/>
          <a:ext cx="5394960" cy="265176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27" name="TextBox 26"/>
          <p:cNvSpPr txBox="1"/>
          <p:nvPr/>
        </p:nvSpPr>
        <p:spPr>
          <a:xfrm>
            <a:off x="6355080" y="3200400"/>
            <a:ext cx="493776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b="1">
                <a:solidFill>
                  <a:srgbClr val="77857E"/>
                </a:solidFill>
                <a:latin typeface="Calibri"/>
              </a:rPr>
              <a:t>POR SUBCATEGORIA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355080" y="3474720"/>
            <a:ext cx="36576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47554F"/>
                </a:solidFill>
                <a:latin typeface="Calibri"/>
              </a:rPr>
              <a:t>7.1 Coberturas e insumos de curativo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10058400" y="3538727"/>
            <a:ext cx="914400" cy="109728"/>
          </a:xfrm>
          <a:prstGeom prst="roundRect">
            <a:avLst>
              <a:gd name="adj" fmla="val 3000"/>
            </a:avLst>
          </a:prstGeom>
          <a:solidFill>
            <a:srgbClr val="1F5F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1018520" y="3465576"/>
            <a:ext cx="9144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050" b="1">
                <a:solidFill>
                  <a:srgbClr val="15211D"/>
                </a:solidFill>
                <a:latin typeface="Calibri"/>
              </a:rPr>
              <a:t>R$ 6.779,60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355080" y="3831335"/>
            <a:ext cx="36576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47554F"/>
                </a:solidFill>
                <a:latin typeface="Calibri"/>
              </a:rPr>
              <a:t>7.2 Horas de enfermagem em curativo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10058400" y="3895344"/>
            <a:ext cx="558383" cy="109728"/>
          </a:xfrm>
          <a:prstGeom prst="roundRect">
            <a:avLst>
              <a:gd name="adj" fmla="val 3000"/>
            </a:avLst>
          </a:prstGeom>
          <a:solidFill>
            <a:srgbClr val="1F5F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1018520" y="3822191"/>
            <a:ext cx="9144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050" b="1">
                <a:solidFill>
                  <a:srgbClr val="15211D"/>
                </a:solidFill>
                <a:latin typeface="Calibri"/>
              </a:rPr>
              <a:t>R$ 4.140,00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355080" y="4187951"/>
            <a:ext cx="36576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47554F"/>
                </a:solidFill>
                <a:latin typeface="Calibri"/>
              </a:rPr>
              <a:t>7.6 Rateio de internação atribuída à lesão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10058400" y="4251959"/>
            <a:ext cx="431600" cy="109728"/>
          </a:xfrm>
          <a:prstGeom prst="roundRect">
            <a:avLst>
              <a:gd name="adj" fmla="val 3000"/>
            </a:avLst>
          </a:prstGeom>
          <a:solidFill>
            <a:srgbClr val="1F5F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1018520" y="4178807"/>
            <a:ext cx="9144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050" b="1">
                <a:solidFill>
                  <a:srgbClr val="15211D"/>
                </a:solidFill>
                <a:latin typeface="Calibri"/>
              </a:rPr>
              <a:t>R$ 3.200,00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355080" y="4544567"/>
            <a:ext cx="36576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47554F"/>
                </a:solidFill>
                <a:latin typeface="Calibri"/>
              </a:rPr>
              <a:t>7.4 Equipamentos de prevenção e terapia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10058400" y="4608575"/>
            <a:ext cx="315608" cy="109728"/>
          </a:xfrm>
          <a:prstGeom prst="roundRect">
            <a:avLst>
              <a:gd name="adj" fmla="val 3000"/>
            </a:avLst>
          </a:prstGeom>
          <a:solidFill>
            <a:srgbClr val="1F5F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1018520" y="4535423"/>
            <a:ext cx="9144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050" b="1">
                <a:solidFill>
                  <a:srgbClr val="15211D"/>
                </a:solidFill>
                <a:latin typeface="Calibri"/>
              </a:rPr>
              <a:t>R$ 2.340,00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355080" y="4901183"/>
            <a:ext cx="36576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47554F"/>
                </a:solidFill>
                <a:latin typeface="Calibri"/>
              </a:rPr>
              <a:t>7.3 Visitas extras de enfermeiro ou estomaterapeut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10058400" y="4965191"/>
            <a:ext cx="83622" cy="109728"/>
          </a:xfrm>
          <a:prstGeom prst="roundRect">
            <a:avLst>
              <a:gd name="adj" fmla="val 3000"/>
            </a:avLst>
          </a:prstGeom>
          <a:solidFill>
            <a:srgbClr val="1F5F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11018520" y="4892039"/>
            <a:ext cx="9144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050" b="1">
                <a:solidFill>
                  <a:srgbClr val="15211D"/>
                </a:solidFill>
                <a:latin typeface="Calibri"/>
              </a:rPr>
              <a:t>R$ 620,00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355080" y="5257799"/>
            <a:ext cx="36576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47554F"/>
                </a:solidFill>
                <a:latin typeface="Calibri"/>
              </a:rPr>
              <a:t>7.5 Rateio de antimicrobianos e exames de ferida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10058400" y="5321807"/>
            <a:ext cx="65589" cy="109728"/>
          </a:xfrm>
          <a:prstGeom prst="roundRect">
            <a:avLst>
              <a:gd name="adj" fmla="val 3000"/>
            </a:avLst>
          </a:prstGeom>
          <a:solidFill>
            <a:srgbClr val="1F5F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11018520" y="5248655"/>
            <a:ext cx="9144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050" b="1">
                <a:solidFill>
                  <a:srgbClr val="15211D"/>
                </a:solidFill>
                <a:latin typeface="Calibri"/>
              </a:rPr>
              <a:t>R$ 486,30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777240" y="6181344"/>
            <a:ext cx="10607040" cy="457200"/>
          </a:xfrm>
          <a:prstGeom prst="roundRect">
            <a:avLst>
              <a:gd name="adj" fmla="val 3000"/>
            </a:avLst>
          </a:prstGeom>
          <a:solidFill>
            <a:srgbClr val="F6E9E4"/>
          </a:solidFill>
          <a:ln w="9525">
            <a:solidFill>
              <a:srgbClr val="A3462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960120" y="6300216"/>
            <a:ext cx="102412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A3462F"/>
                </a:solidFill>
                <a:latin typeface="Calibri"/>
              </a:rPr>
              <a:t>1 pendência em aberto · Risco de glosa. Há rateio de internação atribuída a uma lesão adquirida sob assistência. A ope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-91440" y="-91440"/>
            <a:ext cx="12374575" cy="164592"/>
          </a:xfrm>
          <a:prstGeom prst="roundRect">
            <a:avLst>
              <a:gd name="adj" fmla="val 3000"/>
            </a:avLst>
          </a:prstGeom>
          <a:solidFill>
            <a:srgbClr val="1F5F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41148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77857E"/>
                </a:solidFill>
                <a:latin typeface="Calibri"/>
              </a:rPr>
              <a:t>CARD 08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685800"/>
            <a:ext cx="78638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>
                <a:solidFill>
                  <a:srgbClr val="15211D"/>
                </a:solidFill>
                <a:latin typeface="Calibri"/>
              </a:rPr>
              <a:t>Infecção e Antimicrobianos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188720"/>
            <a:ext cx="7680960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150" b="0">
                <a:solidFill>
                  <a:srgbClr val="47554F"/>
                </a:solidFill>
                <a:latin typeface="Calibri"/>
              </a:rPr>
              <a:t>O corte antigo por tempo de antibiótico deixou de existir. A classificação agora é por topografia, e o alerta dispara com 10 dias ou mais de uso sem reavaliação.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351215" y="640080"/>
            <a:ext cx="3063240" cy="822960"/>
          </a:xfrm>
          <a:prstGeom prst="roundRect">
            <a:avLst>
              <a:gd name="adj" fmla="val 3000"/>
            </a:avLst>
          </a:prstGeom>
          <a:solidFill>
            <a:srgbClr val="F6E9E4"/>
          </a:solidFill>
          <a:ln w="9525">
            <a:solidFill>
              <a:srgbClr val="A3462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506663" y="768096"/>
            <a:ext cx="2752344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1">
                <a:solidFill>
                  <a:srgbClr val="A3462F"/>
                </a:solidFill>
                <a:latin typeface="Calibri"/>
              </a:rPr>
              <a:t>META NÃO ATINGIDA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06663" y="987552"/>
            <a:ext cx="2752344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>
                <a:solidFill>
                  <a:srgbClr val="47554F"/>
                </a:solidFill>
                <a:latin typeface="Calibri"/>
              </a:rPr>
              <a:t>Infecção relacionada à assistência ≤ 40%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77240" y="1938528"/>
            <a:ext cx="2606040" cy="1060704"/>
          </a:xfrm>
          <a:prstGeom prst="roundRect">
            <a:avLst>
              <a:gd name="adj" fmla="val 3000"/>
            </a:avLst>
          </a:prstGeom>
          <a:solidFill>
            <a:srgbClr val="E4EFEA"/>
          </a:solidFill>
          <a:ln w="9525">
            <a:solidFill>
              <a:srgbClr val="E0E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41832" y="2057400"/>
            <a:ext cx="23317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1">
                <a:solidFill>
                  <a:srgbClr val="77857E"/>
                </a:solidFill>
                <a:latin typeface="Calibri"/>
              </a:rPr>
              <a:t>INFECÇÕES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41832" y="2267712"/>
            <a:ext cx="23317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100" b="1">
                <a:solidFill>
                  <a:srgbClr val="1F5F52"/>
                </a:solidFill>
                <a:latin typeface="Calibri"/>
              </a:rPr>
              <a:t>7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41832" y="2651760"/>
            <a:ext cx="23317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95000"/>
              </a:lnSpc>
            </a:pPr>
            <a:r>
              <a:rPr sz="900" b="0">
                <a:solidFill>
                  <a:srgbClr val="77857E"/>
                </a:solidFill>
                <a:latin typeface="Calibri"/>
              </a:rPr>
              <a:t>no mês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511296" y="1938528"/>
            <a:ext cx="2606040" cy="1060704"/>
          </a:xfrm>
          <a:prstGeom prst="roundRect">
            <a:avLst>
              <a:gd name="adj" fmla="val 3000"/>
            </a:avLst>
          </a:prstGeom>
          <a:solidFill>
            <a:srgbClr val="FAFBFA"/>
          </a:solidFill>
          <a:ln w="9525">
            <a:solidFill>
              <a:srgbClr val="E0E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675888" y="2057400"/>
            <a:ext cx="23317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1">
                <a:solidFill>
                  <a:srgbClr val="77857E"/>
                </a:solidFill>
                <a:latin typeface="Calibri"/>
              </a:rPr>
              <a:t>COMUNITÁRIA OU NA ADMISSÃO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75888" y="2267712"/>
            <a:ext cx="23317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100" b="1">
                <a:solidFill>
                  <a:srgbClr val="15211D"/>
                </a:solidFill>
                <a:latin typeface="Calibri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75888" y="2651760"/>
            <a:ext cx="23317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95000"/>
              </a:lnSpc>
            </a:pPr>
            <a:r>
              <a:rPr sz="900" b="0">
                <a:solidFill>
                  <a:srgbClr val="77857E"/>
                </a:solidFill>
                <a:latin typeface="Calibri"/>
              </a:rPr>
              <a:t>não atribuída à assistência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45352" y="1938528"/>
            <a:ext cx="2606040" cy="1060704"/>
          </a:xfrm>
          <a:prstGeom prst="roundRect">
            <a:avLst>
              <a:gd name="adj" fmla="val 3000"/>
            </a:avLst>
          </a:prstGeom>
          <a:solidFill>
            <a:srgbClr val="F6E9E4"/>
          </a:solidFill>
          <a:ln w="9525">
            <a:solidFill>
              <a:srgbClr val="A3462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9944" y="2057400"/>
            <a:ext cx="23317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1">
                <a:solidFill>
                  <a:srgbClr val="77857E"/>
                </a:solidFill>
                <a:latin typeface="Calibri"/>
              </a:rPr>
              <a:t>RELACIONADA À ASSISTÊNCIA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9944" y="2267712"/>
            <a:ext cx="23317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100" b="1">
                <a:solidFill>
                  <a:srgbClr val="A3462F"/>
                </a:solidFill>
                <a:latin typeface="Calibri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9944" y="2651760"/>
            <a:ext cx="23317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95000"/>
              </a:lnSpc>
            </a:pPr>
            <a:r>
              <a:rPr sz="900" b="0">
                <a:solidFill>
                  <a:srgbClr val="77857E"/>
                </a:solidFill>
                <a:latin typeface="Calibri"/>
              </a:rPr>
              <a:t>indicador de resultado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979408" y="1938528"/>
            <a:ext cx="2606040" cy="1060704"/>
          </a:xfrm>
          <a:prstGeom prst="roundRect">
            <a:avLst>
              <a:gd name="adj" fmla="val 3000"/>
            </a:avLst>
          </a:prstGeom>
          <a:solidFill>
            <a:srgbClr val="F6E9E4"/>
          </a:solidFill>
          <a:ln w="9525">
            <a:solidFill>
              <a:srgbClr val="A3462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144000" y="2057400"/>
            <a:ext cx="23317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1">
                <a:solidFill>
                  <a:srgbClr val="77857E"/>
                </a:solidFill>
                <a:latin typeface="Calibri"/>
              </a:rPr>
              <a:t>ANTIMICROBIANO ≥ 10 DIAS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44000" y="2267712"/>
            <a:ext cx="23317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100" b="1">
                <a:solidFill>
                  <a:srgbClr val="A3462F"/>
                </a:solidFill>
                <a:latin typeface="Calibri"/>
              </a:rPr>
              <a:t>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44000" y="2651760"/>
            <a:ext cx="23317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95000"/>
              </a:lnSpc>
            </a:pPr>
            <a:r>
              <a:rPr sz="900" b="0">
                <a:solidFill>
                  <a:srgbClr val="77857E"/>
                </a:solidFill>
                <a:latin typeface="Calibri"/>
              </a:rPr>
              <a:t>sem reavaliação registrada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77240" y="3200400"/>
            <a:ext cx="512064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b="1">
                <a:solidFill>
                  <a:srgbClr val="77857E"/>
                </a:solidFill>
                <a:latin typeface="Calibri"/>
              </a:rPr>
              <a:t>EVOLUÇÃO MENSAL</a:t>
            </a:r>
          </a:p>
        </p:txBody>
      </p:sp>
      <p:graphicFrame>
        <p:nvGraphicFramePr>
          <p:cNvPr id="26" name="Chart 25"/>
          <p:cNvGraphicFramePr>
            <a:graphicFrameLocks noGrp="1"/>
          </p:cNvGraphicFramePr>
          <p:nvPr/>
        </p:nvGraphicFramePr>
        <p:xfrm>
          <a:off x="640080" y="3401568"/>
          <a:ext cx="5394960" cy="265176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27" name="TextBox 26"/>
          <p:cNvSpPr txBox="1"/>
          <p:nvPr/>
        </p:nvSpPr>
        <p:spPr>
          <a:xfrm>
            <a:off x="6355080" y="3200400"/>
            <a:ext cx="493776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b="1">
                <a:solidFill>
                  <a:srgbClr val="77857E"/>
                </a:solidFill>
                <a:latin typeface="Calibri"/>
              </a:rPr>
              <a:t>POR SUBCATEGORIA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355080" y="3474720"/>
            <a:ext cx="36576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47554F"/>
                </a:solidFill>
                <a:latin typeface="Calibri"/>
              </a:rPr>
              <a:t>8.1 ITU associada a cateter vesical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10058400" y="3538727"/>
            <a:ext cx="914400" cy="109728"/>
          </a:xfrm>
          <a:prstGeom prst="roundRect">
            <a:avLst>
              <a:gd name="adj" fmla="val 3000"/>
            </a:avLst>
          </a:prstGeom>
          <a:solidFill>
            <a:srgbClr val="1F5F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1018520" y="3465576"/>
            <a:ext cx="9144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050" b="1">
                <a:solidFill>
                  <a:srgbClr val="15211D"/>
                </a:solidFill>
                <a:latin typeface="Calibri"/>
              </a:rPr>
              <a:t>1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355080" y="3831335"/>
            <a:ext cx="36576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47554F"/>
                </a:solidFill>
                <a:latin typeface="Calibri"/>
              </a:rPr>
              <a:t>8.2 ITU sem cateter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10058400" y="3895344"/>
            <a:ext cx="914400" cy="109728"/>
          </a:xfrm>
          <a:prstGeom prst="roundRect">
            <a:avLst>
              <a:gd name="adj" fmla="val 3000"/>
            </a:avLst>
          </a:prstGeom>
          <a:solidFill>
            <a:srgbClr val="1F5F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1018520" y="3822191"/>
            <a:ext cx="9144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050" b="1">
                <a:solidFill>
                  <a:srgbClr val="15211D"/>
                </a:solidFill>
                <a:latin typeface="Calibri"/>
              </a:rPr>
              <a:t>1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355080" y="4187951"/>
            <a:ext cx="36576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47554F"/>
                </a:solidFill>
                <a:latin typeface="Calibri"/>
              </a:rPr>
              <a:t>8.3 Respiratória com traqueostomia ou VM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10058400" y="4251959"/>
            <a:ext cx="914400" cy="109728"/>
          </a:xfrm>
          <a:prstGeom prst="roundRect">
            <a:avLst>
              <a:gd name="adj" fmla="val 3000"/>
            </a:avLst>
          </a:prstGeom>
          <a:solidFill>
            <a:srgbClr val="1F5F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1018520" y="4178807"/>
            <a:ext cx="9144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050" b="1">
                <a:solidFill>
                  <a:srgbClr val="15211D"/>
                </a:solidFill>
                <a:latin typeface="Calibri"/>
              </a:rPr>
              <a:t>1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355080" y="4544567"/>
            <a:ext cx="36576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47554F"/>
                </a:solidFill>
                <a:latin typeface="Calibri"/>
              </a:rPr>
              <a:t>8.4 Pneumonia aspirativa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10058400" y="4608575"/>
            <a:ext cx="914400" cy="109728"/>
          </a:xfrm>
          <a:prstGeom prst="roundRect">
            <a:avLst>
              <a:gd name="adj" fmla="val 3000"/>
            </a:avLst>
          </a:prstGeom>
          <a:solidFill>
            <a:srgbClr val="1F5F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1018520" y="4535423"/>
            <a:ext cx="9144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050" b="1">
                <a:solidFill>
                  <a:srgbClr val="15211D"/>
                </a:solidFill>
                <a:latin typeface="Calibri"/>
              </a:rPr>
              <a:t>1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355080" y="4901183"/>
            <a:ext cx="36576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47554F"/>
                </a:solidFill>
                <a:latin typeface="Calibri"/>
              </a:rPr>
              <a:t>8.5 Sítio de inserção de GTT, PICC ou TQT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10058400" y="4965191"/>
            <a:ext cx="914400" cy="109728"/>
          </a:xfrm>
          <a:prstGeom prst="roundRect">
            <a:avLst>
              <a:gd name="adj" fmla="val 3000"/>
            </a:avLst>
          </a:prstGeom>
          <a:solidFill>
            <a:srgbClr val="1F5F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11018520" y="4892039"/>
            <a:ext cx="9144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050" b="1">
                <a:solidFill>
                  <a:srgbClr val="15211D"/>
                </a:solidFill>
                <a:latin typeface="Calibri"/>
              </a:rPr>
              <a:t>1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355080" y="5257799"/>
            <a:ext cx="36576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47554F"/>
                </a:solidFill>
                <a:latin typeface="Calibri"/>
              </a:rPr>
              <a:t>8.6 Ferida ou lesão por pressão infectada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10058400" y="5321807"/>
            <a:ext cx="914400" cy="109728"/>
          </a:xfrm>
          <a:prstGeom prst="roundRect">
            <a:avLst>
              <a:gd name="adj" fmla="val 3000"/>
            </a:avLst>
          </a:prstGeom>
          <a:solidFill>
            <a:srgbClr val="1F5F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11018520" y="5248655"/>
            <a:ext cx="9144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050" b="1">
                <a:solidFill>
                  <a:srgbClr val="15211D"/>
                </a:solidFill>
                <a:latin typeface="Calibri"/>
              </a:rPr>
              <a:t>1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355080" y="5614415"/>
            <a:ext cx="36576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47554F"/>
                </a:solidFill>
                <a:latin typeface="Calibri"/>
              </a:rPr>
              <a:t>8.7 Pele e partes moles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10058400" y="5678423"/>
            <a:ext cx="914400" cy="109728"/>
          </a:xfrm>
          <a:prstGeom prst="roundRect">
            <a:avLst>
              <a:gd name="adj" fmla="val 3000"/>
            </a:avLst>
          </a:prstGeom>
          <a:solidFill>
            <a:srgbClr val="1F5F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11018520" y="5605271"/>
            <a:ext cx="9144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050" b="1">
                <a:solidFill>
                  <a:srgbClr val="15211D"/>
                </a:solidFill>
                <a:latin typeface="Calibri"/>
              </a:rPr>
              <a:t>1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777240" y="6181344"/>
            <a:ext cx="10607040" cy="457200"/>
          </a:xfrm>
          <a:prstGeom prst="roundRect">
            <a:avLst>
              <a:gd name="adj" fmla="val 3000"/>
            </a:avLst>
          </a:prstGeom>
          <a:solidFill>
            <a:srgbClr val="F6E9E4"/>
          </a:solidFill>
          <a:ln w="9525">
            <a:solidFill>
              <a:srgbClr val="A3462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960120" y="6300216"/>
            <a:ext cx="102412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A3462F"/>
                </a:solidFill>
                <a:latin typeface="Calibri"/>
              </a:rPr>
              <a:t>4 pendências em aberto · Antimicrobiano há 13 dias sem reavaliação. Alerta automático para a equipe médica a partir de 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-91440" y="-91440"/>
            <a:ext cx="12374575" cy="164592"/>
          </a:xfrm>
          <a:prstGeom prst="roundRect">
            <a:avLst>
              <a:gd name="adj" fmla="val 3000"/>
            </a:avLst>
          </a:prstGeom>
          <a:solidFill>
            <a:srgbClr val="1F5F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41148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77857E"/>
                </a:solidFill>
                <a:latin typeface="Calibri"/>
              </a:rPr>
              <a:t>CARD 09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685800"/>
            <a:ext cx="78638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>
                <a:solidFill>
                  <a:srgbClr val="15211D"/>
                </a:solidFill>
                <a:latin typeface="Calibri"/>
              </a:rPr>
              <a:t>Ouvidoria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188720"/>
            <a:ext cx="7680960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150" b="0">
                <a:solidFill>
                  <a:srgbClr val="47554F"/>
                </a:solidFill>
                <a:latin typeface="Calibri"/>
              </a:rPr>
              <a:t>A categoria “Reclamações e Solicitações” foi extinta. Manifestação com mais de um teor é classificada pelo de maior criticidade; os demais entram como motivo adicional.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351215" y="640080"/>
            <a:ext cx="3063240" cy="822960"/>
          </a:xfrm>
          <a:prstGeom prst="roundRect">
            <a:avLst>
              <a:gd name="adj" fmla="val 3000"/>
            </a:avLst>
          </a:prstGeom>
          <a:solidFill>
            <a:srgbClr val="E4EFEA"/>
          </a:solidFill>
          <a:ln w="9525">
            <a:solidFill>
              <a:srgbClr val="1F5F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506663" y="768096"/>
            <a:ext cx="2752344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1">
                <a:solidFill>
                  <a:srgbClr val="1F5F52"/>
                </a:solidFill>
                <a:latin typeface="Calibri"/>
              </a:rPr>
              <a:t>META ATINGIDA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06663" y="987552"/>
            <a:ext cx="2752344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>
                <a:solidFill>
                  <a:srgbClr val="47554F"/>
                </a:solidFill>
                <a:latin typeface="Calibri"/>
              </a:rPr>
              <a:t>Resposta dentro do SLA ≥ 90%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77240" y="1938528"/>
            <a:ext cx="2606040" cy="1060704"/>
          </a:xfrm>
          <a:prstGeom prst="roundRect">
            <a:avLst>
              <a:gd name="adj" fmla="val 3000"/>
            </a:avLst>
          </a:prstGeom>
          <a:solidFill>
            <a:srgbClr val="E4EFEA"/>
          </a:solidFill>
          <a:ln w="9525">
            <a:solidFill>
              <a:srgbClr val="E0E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41832" y="2057400"/>
            <a:ext cx="23317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1">
                <a:solidFill>
                  <a:srgbClr val="77857E"/>
                </a:solidFill>
                <a:latin typeface="Calibri"/>
              </a:rPr>
              <a:t>MANIFESTAÇÕES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41832" y="2267712"/>
            <a:ext cx="23317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100" b="1">
                <a:solidFill>
                  <a:srgbClr val="1F5F52"/>
                </a:solidFill>
                <a:latin typeface="Calibri"/>
              </a:rPr>
              <a:t>8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41832" y="2651760"/>
            <a:ext cx="23317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95000"/>
              </a:lnSpc>
            </a:pPr>
            <a:r>
              <a:rPr sz="900" b="0">
                <a:solidFill>
                  <a:srgbClr val="77857E"/>
                </a:solidFill>
                <a:latin typeface="Calibri"/>
              </a:rPr>
              <a:t>no mês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511296" y="1938528"/>
            <a:ext cx="2606040" cy="1060704"/>
          </a:xfrm>
          <a:prstGeom prst="roundRect">
            <a:avLst>
              <a:gd name="adj" fmla="val 3000"/>
            </a:avLst>
          </a:prstGeom>
          <a:solidFill>
            <a:srgbClr val="FAFBFA"/>
          </a:solidFill>
          <a:ln w="9525">
            <a:solidFill>
              <a:srgbClr val="E0E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675888" y="2057400"/>
            <a:ext cx="23317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1">
                <a:solidFill>
                  <a:srgbClr val="77857E"/>
                </a:solidFill>
                <a:latin typeface="Calibri"/>
              </a:rPr>
              <a:t>RECLAMAÇÕES (9.1)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75888" y="2267712"/>
            <a:ext cx="23317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100" b="1">
                <a:solidFill>
                  <a:srgbClr val="15211D"/>
                </a:solidFill>
                <a:latin typeface="Calibri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75888" y="2651760"/>
            <a:ext cx="23317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95000"/>
              </a:lnSpc>
            </a:pPr>
            <a:r>
              <a:rPr sz="900" b="0">
                <a:solidFill>
                  <a:srgbClr val="77857E"/>
                </a:solidFill>
                <a:latin typeface="Calibri"/>
              </a:rPr>
              <a:t>maior criticidade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45352" y="1938528"/>
            <a:ext cx="2606040" cy="1060704"/>
          </a:xfrm>
          <a:prstGeom prst="roundRect">
            <a:avLst>
              <a:gd name="adj" fmla="val 3000"/>
            </a:avLst>
          </a:prstGeom>
          <a:solidFill>
            <a:srgbClr val="F6E9E4"/>
          </a:solidFill>
          <a:ln w="9525">
            <a:solidFill>
              <a:srgbClr val="A3462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9944" y="2057400"/>
            <a:ext cx="23317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1">
                <a:solidFill>
                  <a:srgbClr val="77857E"/>
                </a:solidFill>
                <a:latin typeface="Calibri"/>
              </a:rPr>
              <a:t>EM ABERTO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9944" y="2267712"/>
            <a:ext cx="23317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100" b="1">
                <a:solidFill>
                  <a:srgbClr val="A3462F"/>
                </a:solidFill>
                <a:latin typeface="Calibri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9944" y="2651760"/>
            <a:ext cx="23317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95000"/>
              </a:lnSpc>
            </a:pPr>
            <a:r>
              <a:rPr sz="900" b="0">
                <a:solidFill>
                  <a:srgbClr val="77857E"/>
                </a:solidFill>
                <a:latin typeface="Calibri"/>
              </a:rPr>
              <a:t>1 fora do SLA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979408" y="1938528"/>
            <a:ext cx="2606040" cy="1060704"/>
          </a:xfrm>
          <a:prstGeom prst="roundRect">
            <a:avLst>
              <a:gd name="adj" fmla="val 3000"/>
            </a:avLst>
          </a:prstGeom>
          <a:solidFill>
            <a:srgbClr val="FAFBFA"/>
          </a:solidFill>
          <a:ln w="9525">
            <a:solidFill>
              <a:srgbClr val="E0E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144000" y="2057400"/>
            <a:ext cx="23317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1">
                <a:solidFill>
                  <a:srgbClr val="77857E"/>
                </a:solidFill>
                <a:latin typeface="Calibri"/>
              </a:rPr>
              <a:t>RESPOSTA NO PRAZO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44000" y="2267712"/>
            <a:ext cx="23317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100" b="1">
                <a:solidFill>
                  <a:srgbClr val="15211D"/>
                </a:solidFill>
                <a:latin typeface="Calibri"/>
              </a:rPr>
              <a:t>100%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44000" y="2651760"/>
            <a:ext cx="23317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95000"/>
              </a:lnSpc>
            </a:pPr>
            <a:r>
              <a:rPr sz="900" b="0">
                <a:solidFill>
                  <a:srgbClr val="77857E"/>
                </a:solidFill>
                <a:latin typeface="Calibri"/>
              </a:rPr>
              <a:t>SLA de 5 dias úteis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77240" y="3200400"/>
            <a:ext cx="512064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b="1">
                <a:solidFill>
                  <a:srgbClr val="77857E"/>
                </a:solidFill>
                <a:latin typeface="Calibri"/>
              </a:rPr>
              <a:t>EVOLUÇÃO MENSAL</a:t>
            </a:r>
          </a:p>
        </p:txBody>
      </p:sp>
      <p:graphicFrame>
        <p:nvGraphicFramePr>
          <p:cNvPr id="26" name="Chart 25"/>
          <p:cNvGraphicFramePr>
            <a:graphicFrameLocks noGrp="1"/>
          </p:cNvGraphicFramePr>
          <p:nvPr/>
        </p:nvGraphicFramePr>
        <p:xfrm>
          <a:off x="640080" y="3401568"/>
          <a:ext cx="5394960" cy="265176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27" name="TextBox 26"/>
          <p:cNvSpPr txBox="1"/>
          <p:nvPr/>
        </p:nvSpPr>
        <p:spPr>
          <a:xfrm>
            <a:off x="6355080" y="3200400"/>
            <a:ext cx="493776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b="1">
                <a:solidFill>
                  <a:srgbClr val="77857E"/>
                </a:solidFill>
                <a:latin typeface="Calibri"/>
              </a:rPr>
              <a:t>POR SUBCATEGORIA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355080" y="3474720"/>
            <a:ext cx="36576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47554F"/>
                </a:solidFill>
                <a:latin typeface="Calibri"/>
              </a:rPr>
              <a:t>9.1 Reclamação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10058400" y="3538727"/>
            <a:ext cx="914400" cy="109728"/>
          </a:xfrm>
          <a:prstGeom prst="roundRect">
            <a:avLst>
              <a:gd name="adj" fmla="val 3000"/>
            </a:avLst>
          </a:prstGeom>
          <a:solidFill>
            <a:srgbClr val="1F5F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1018520" y="3465576"/>
            <a:ext cx="9144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050" b="1">
                <a:solidFill>
                  <a:srgbClr val="15211D"/>
                </a:solidFill>
                <a:latin typeface="Calibri"/>
              </a:rPr>
              <a:t>3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355080" y="3831335"/>
            <a:ext cx="36576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47554F"/>
                </a:solidFill>
                <a:latin typeface="Calibri"/>
              </a:rPr>
              <a:t>9.2 Solicitação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10058400" y="3895344"/>
            <a:ext cx="609600" cy="109728"/>
          </a:xfrm>
          <a:prstGeom prst="roundRect">
            <a:avLst>
              <a:gd name="adj" fmla="val 3000"/>
            </a:avLst>
          </a:prstGeom>
          <a:solidFill>
            <a:srgbClr val="1F5F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1018520" y="3822191"/>
            <a:ext cx="9144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050" b="1">
                <a:solidFill>
                  <a:srgbClr val="15211D"/>
                </a:solidFill>
                <a:latin typeface="Calibri"/>
              </a:rPr>
              <a:t>2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355080" y="4187951"/>
            <a:ext cx="36576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47554F"/>
                </a:solidFill>
                <a:latin typeface="Calibri"/>
              </a:rPr>
              <a:t>9.3 Sugestão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10058400" y="4251959"/>
            <a:ext cx="304800" cy="109728"/>
          </a:xfrm>
          <a:prstGeom prst="roundRect">
            <a:avLst>
              <a:gd name="adj" fmla="val 3000"/>
            </a:avLst>
          </a:prstGeom>
          <a:solidFill>
            <a:srgbClr val="1F5F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1018520" y="4178807"/>
            <a:ext cx="9144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050" b="1">
                <a:solidFill>
                  <a:srgbClr val="15211D"/>
                </a:solidFill>
                <a:latin typeface="Calibri"/>
              </a:rPr>
              <a:t>1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355080" y="4544567"/>
            <a:ext cx="36576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47554F"/>
                </a:solidFill>
                <a:latin typeface="Calibri"/>
              </a:rPr>
              <a:t>9.4 Elogio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10058400" y="4608575"/>
            <a:ext cx="304800" cy="109728"/>
          </a:xfrm>
          <a:prstGeom prst="roundRect">
            <a:avLst>
              <a:gd name="adj" fmla="val 3000"/>
            </a:avLst>
          </a:prstGeom>
          <a:solidFill>
            <a:srgbClr val="1F5F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1018520" y="4535423"/>
            <a:ext cx="9144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050" b="1">
                <a:solidFill>
                  <a:srgbClr val="15211D"/>
                </a:solidFill>
                <a:latin typeface="Calibri"/>
              </a:rPr>
              <a:t>1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355080" y="4901183"/>
            <a:ext cx="36576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47554F"/>
                </a:solidFill>
                <a:latin typeface="Calibri"/>
              </a:rPr>
              <a:t>9.5 Dúvida ou pedido de informação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10058400" y="4965191"/>
            <a:ext cx="304800" cy="109728"/>
          </a:xfrm>
          <a:prstGeom prst="roundRect">
            <a:avLst>
              <a:gd name="adj" fmla="val 3000"/>
            </a:avLst>
          </a:prstGeom>
          <a:solidFill>
            <a:srgbClr val="1F5F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11018520" y="4892039"/>
            <a:ext cx="9144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050" b="1">
                <a:solidFill>
                  <a:srgbClr val="15211D"/>
                </a:solidFill>
                <a:latin typeface="Calibri"/>
              </a:rPr>
              <a:t>1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777240" y="6181344"/>
            <a:ext cx="10607040" cy="457200"/>
          </a:xfrm>
          <a:prstGeom prst="roundRect">
            <a:avLst>
              <a:gd name="adj" fmla="val 3000"/>
            </a:avLst>
          </a:prstGeom>
          <a:solidFill>
            <a:srgbClr val="F6E9E4"/>
          </a:solidFill>
          <a:ln w="9525">
            <a:solidFill>
              <a:srgbClr val="A3462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960120" y="6300216"/>
            <a:ext cx="102412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A3462F"/>
                </a:solidFill>
                <a:latin typeface="Calibri"/>
              </a:rPr>
              <a:t>3 pendências em aberto · Campo obrigatório em falta: Procedência; Data de resposta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-91440" y="-91440"/>
            <a:ext cx="12374575" cy="164592"/>
          </a:xfrm>
          <a:prstGeom prst="roundRect">
            <a:avLst>
              <a:gd name="adj" fmla="val 3000"/>
            </a:avLst>
          </a:prstGeom>
          <a:solidFill>
            <a:srgbClr val="1F5F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41148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77857E"/>
                </a:solidFill>
                <a:latin typeface="Calibri"/>
              </a:rPr>
              <a:t>CARD 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685800"/>
            <a:ext cx="78638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>
                <a:solidFill>
                  <a:srgbClr val="15211D"/>
                </a:solidFill>
                <a:latin typeface="Calibri"/>
              </a:rPr>
              <a:t>Vulnerabilidade e Proteção Social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188720"/>
            <a:ext cx="7680960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150" b="0">
                <a:solidFill>
                  <a:srgbClr val="47554F"/>
                </a:solidFill>
                <a:latin typeface="Calibri"/>
              </a:rPr>
              <a:t>“Em triagem” substitui a antiga “não categorizada” e é status temporário com prazo de 7 dias. Nenhum caso encerra a competência sem categoria.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351215" y="640080"/>
            <a:ext cx="3063240" cy="822960"/>
          </a:xfrm>
          <a:prstGeom prst="roundRect">
            <a:avLst>
              <a:gd name="adj" fmla="val 3000"/>
            </a:avLst>
          </a:prstGeom>
          <a:solidFill>
            <a:srgbClr val="E4EFEA"/>
          </a:solidFill>
          <a:ln w="9525">
            <a:solidFill>
              <a:srgbClr val="1F5F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506663" y="768096"/>
            <a:ext cx="2752344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1">
                <a:solidFill>
                  <a:srgbClr val="1F5F52"/>
                </a:solidFill>
                <a:latin typeface="Calibri"/>
              </a:rPr>
              <a:t>META ATINGIDA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06663" y="987552"/>
            <a:ext cx="2752344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>
                <a:solidFill>
                  <a:srgbClr val="47554F"/>
                </a:solidFill>
                <a:latin typeface="Calibri"/>
              </a:rPr>
              <a:t>Nenhum caso em triagem com prazo vencido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77240" y="1938528"/>
            <a:ext cx="2606040" cy="1060704"/>
          </a:xfrm>
          <a:prstGeom prst="roundRect">
            <a:avLst>
              <a:gd name="adj" fmla="val 3000"/>
            </a:avLst>
          </a:prstGeom>
          <a:solidFill>
            <a:srgbClr val="E4EFEA"/>
          </a:solidFill>
          <a:ln w="9525">
            <a:solidFill>
              <a:srgbClr val="E0E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41832" y="2057400"/>
            <a:ext cx="23317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1">
                <a:solidFill>
                  <a:srgbClr val="77857E"/>
                </a:solidFill>
                <a:latin typeface="Calibri"/>
              </a:rPr>
              <a:t>CASOS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41832" y="2267712"/>
            <a:ext cx="23317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100" b="1">
                <a:solidFill>
                  <a:srgbClr val="1F5F52"/>
                </a:solidFill>
                <a:latin typeface="Calibri"/>
              </a:rPr>
              <a:t>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41832" y="2651760"/>
            <a:ext cx="23317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95000"/>
              </a:lnSpc>
            </a:pPr>
            <a:r>
              <a:rPr sz="900" b="0">
                <a:solidFill>
                  <a:srgbClr val="77857E"/>
                </a:solidFill>
                <a:latin typeface="Calibri"/>
              </a:rPr>
              <a:t>no mês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511296" y="1938528"/>
            <a:ext cx="2606040" cy="1060704"/>
          </a:xfrm>
          <a:prstGeom prst="roundRect">
            <a:avLst>
              <a:gd name="adj" fmla="val 3000"/>
            </a:avLst>
          </a:prstGeom>
          <a:solidFill>
            <a:srgbClr val="FAFBFA"/>
          </a:solidFill>
          <a:ln w="9525">
            <a:solidFill>
              <a:srgbClr val="E0E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675888" y="2057400"/>
            <a:ext cx="23317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1">
                <a:solidFill>
                  <a:srgbClr val="77857E"/>
                </a:solidFill>
                <a:latin typeface="Calibri"/>
              </a:rPr>
              <a:t>EM TRIAGEM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75888" y="2267712"/>
            <a:ext cx="23317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100" b="1">
                <a:solidFill>
                  <a:srgbClr val="15211D"/>
                </a:solidFill>
                <a:latin typeface="Calibri"/>
              </a:rPr>
              <a:t>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75888" y="2651760"/>
            <a:ext cx="23317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95000"/>
              </a:lnSpc>
            </a:pPr>
            <a:r>
              <a:rPr sz="900" b="0">
                <a:solidFill>
                  <a:srgbClr val="77857E"/>
                </a:solidFill>
                <a:latin typeface="Calibri"/>
              </a:rPr>
              <a:t>prazo de 7 dias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45352" y="1938528"/>
            <a:ext cx="2606040" cy="1060704"/>
          </a:xfrm>
          <a:prstGeom prst="roundRect">
            <a:avLst>
              <a:gd name="adj" fmla="val 3000"/>
            </a:avLst>
          </a:prstGeom>
          <a:solidFill>
            <a:srgbClr val="FAFBFA"/>
          </a:solidFill>
          <a:ln w="9525">
            <a:solidFill>
              <a:srgbClr val="E0E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9944" y="2057400"/>
            <a:ext cx="23317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1">
                <a:solidFill>
                  <a:srgbClr val="77857E"/>
                </a:solidFill>
                <a:latin typeface="Calibri"/>
              </a:rPr>
              <a:t>NOTIFICAÇÃO COMPULSÓRIA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9944" y="2267712"/>
            <a:ext cx="23317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100" b="1">
                <a:solidFill>
                  <a:srgbClr val="15211D"/>
                </a:solidFill>
                <a:latin typeface="Calibri"/>
              </a:rPr>
              <a:t>1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9944" y="2651760"/>
            <a:ext cx="23317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95000"/>
              </a:lnSpc>
            </a:pPr>
            <a:r>
              <a:rPr sz="900" b="0">
                <a:solidFill>
                  <a:srgbClr val="77857E"/>
                </a:solidFill>
                <a:latin typeface="Calibri"/>
              </a:rPr>
              <a:t>acionada no período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979408" y="1938528"/>
            <a:ext cx="2606040" cy="1060704"/>
          </a:xfrm>
          <a:prstGeom prst="roundRect">
            <a:avLst>
              <a:gd name="adj" fmla="val 3000"/>
            </a:avLst>
          </a:prstGeom>
          <a:solidFill>
            <a:srgbClr val="F6E9E4"/>
          </a:solidFill>
          <a:ln w="9525">
            <a:solidFill>
              <a:srgbClr val="A3462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144000" y="2057400"/>
            <a:ext cx="23317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1">
                <a:solidFill>
                  <a:srgbClr val="77857E"/>
                </a:solidFill>
                <a:latin typeface="Calibri"/>
              </a:rPr>
              <a:t>SEM AVALIAÇÃO EM 72H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44000" y="2267712"/>
            <a:ext cx="23317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100" b="1">
                <a:solidFill>
                  <a:srgbClr val="A3462F"/>
                </a:solidFill>
                <a:latin typeface="Calibri"/>
              </a:rPr>
              <a:t>1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44000" y="2651760"/>
            <a:ext cx="23317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95000"/>
              </a:lnSpc>
            </a:pPr>
            <a:r>
              <a:rPr sz="900" b="0">
                <a:solidFill>
                  <a:srgbClr val="77857E"/>
                </a:solidFill>
                <a:latin typeface="Calibri"/>
              </a:rPr>
              <a:t>serviço social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77240" y="3200400"/>
            <a:ext cx="512064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b="1">
                <a:solidFill>
                  <a:srgbClr val="77857E"/>
                </a:solidFill>
                <a:latin typeface="Calibri"/>
              </a:rPr>
              <a:t>EVOLUÇÃO MENSAL</a:t>
            </a:r>
          </a:p>
        </p:txBody>
      </p:sp>
      <p:graphicFrame>
        <p:nvGraphicFramePr>
          <p:cNvPr id="26" name="Chart 25"/>
          <p:cNvGraphicFramePr>
            <a:graphicFrameLocks noGrp="1"/>
          </p:cNvGraphicFramePr>
          <p:nvPr/>
        </p:nvGraphicFramePr>
        <p:xfrm>
          <a:off x="640080" y="3401568"/>
          <a:ext cx="5394960" cy="265176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27" name="TextBox 26"/>
          <p:cNvSpPr txBox="1"/>
          <p:nvPr/>
        </p:nvSpPr>
        <p:spPr>
          <a:xfrm>
            <a:off x="6355080" y="3200400"/>
            <a:ext cx="493776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b="1">
                <a:solidFill>
                  <a:srgbClr val="77857E"/>
                </a:solidFill>
                <a:latin typeface="Calibri"/>
              </a:rPr>
              <a:t>POR SUBCATEGORIA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355080" y="3474720"/>
            <a:ext cx="36576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47554F"/>
                </a:solidFill>
                <a:latin typeface="Calibri"/>
              </a:rPr>
              <a:t>10.1 Negligência ou abandono do cuidado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10058400" y="3538727"/>
            <a:ext cx="914400" cy="109728"/>
          </a:xfrm>
          <a:prstGeom prst="roundRect">
            <a:avLst>
              <a:gd name="adj" fmla="val 3000"/>
            </a:avLst>
          </a:prstGeom>
          <a:solidFill>
            <a:srgbClr val="1F5F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1018520" y="3465576"/>
            <a:ext cx="9144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050" b="1">
                <a:solidFill>
                  <a:srgbClr val="15211D"/>
                </a:solidFill>
                <a:latin typeface="Calibri"/>
              </a:rPr>
              <a:t>1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355080" y="3831335"/>
            <a:ext cx="36576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47554F"/>
                </a:solidFill>
                <a:latin typeface="Calibri"/>
              </a:rPr>
              <a:t>10.6 Ausência ou insuficiência de cuidador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10058400" y="3895344"/>
            <a:ext cx="914400" cy="109728"/>
          </a:xfrm>
          <a:prstGeom prst="roundRect">
            <a:avLst>
              <a:gd name="adj" fmla="val 3000"/>
            </a:avLst>
          </a:prstGeom>
          <a:solidFill>
            <a:srgbClr val="1F5F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1018520" y="3822191"/>
            <a:ext cx="9144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050" b="1">
                <a:solidFill>
                  <a:srgbClr val="15211D"/>
                </a:solidFill>
                <a:latin typeface="Calibri"/>
              </a:rPr>
              <a:t>1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355080" y="4187951"/>
            <a:ext cx="36576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47554F"/>
                </a:solidFill>
                <a:latin typeface="Calibri"/>
              </a:rPr>
              <a:t>10.7 Moradia inadequada ou ambiente inseguro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10058400" y="4251959"/>
            <a:ext cx="914400" cy="109728"/>
          </a:xfrm>
          <a:prstGeom prst="roundRect">
            <a:avLst>
              <a:gd name="adj" fmla="val 3000"/>
            </a:avLst>
          </a:prstGeom>
          <a:solidFill>
            <a:srgbClr val="1F5F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1018520" y="4178807"/>
            <a:ext cx="9144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050" b="1">
                <a:solidFill>
                  <a:srgbClr val="15211D"/>
                </a:solidFill>
                <a:latin typeface="Calibri"/>
              </a:rPr>
              <a:t>1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355080" y="4544567"/>
            <a:ext cx="36576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47554F"/>
                </a:solidFill>
                <a:latin typeface="Calibri"/>
              </a:rPr>
              <a:t>10.8 Conflito familiar que interfere no plano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10058400" y="4608575"/>
            <a:ext cx="914400" cy="109728"/>
          </a:xfrm>
          <a:prstGeom prst="roundRect">
            <a:avLst>
              <a:gd name="adj" fmla="val 3000"/>
            </a:avLst>
          </a:prstGeom>
          <a:solidFill>
            <a:srgbClr val="1F5F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1018520" y="4535423"/>
            <a:ext cx="9144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050" b="1">
                <a:solidFill>
                  <a:srgbClr val="15211D"/>
                </a:solidFill>
                <a:latin typeface="Calibri"/>
              </a:rPr>
              <a:t>1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355080" y="4901183"/>
            <a:ext cx="36576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47554F"/>
                </a:solidFill>
                <a:latin typeface="Calibri"/>
              </a:rPr>
              <a:t>10.9 Recusa ou sabotagem do cuidado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10058400" y="4965191"/>
            <a:ext cx="914400" cy="109728"/>
          </a:xfrm>
          <a:prstGeom prst="roundRect">
            <a:avLst>
              <a:gd name="adj" fmla="val 3000"/>
            </a:avLst>
          </a:prstGeom>
          <a:solidFill>
            <a:srgbClr val="1F5F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11018520" y="4892039"/>
            <a:ext cx="9144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050" b="1">
                <a:solidFill>
                  <a:srgbClr val="15211D"/>
                </a:solidFill>
                <a:latin typeface="Calibri"/>
              </a:rPr>
              <a:t>1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355080" y="5257799"/>
            <a:ext cx="36576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47554F"/>
                </a:solidFill>
                <a:latin typeface="Calibri"/>
              </a:rPr>
              <a:t>—Em triagem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10058400" y="5321807"/>
            <a:ext cx="914400" cy="109728"/>
          </a:xfrm>
          <a:prstGeom prst="roundRect">
            <a:avLst>
              <a:gd name="adj" fmla="val 3000"/>
            </a:avLst>
          </a:prstGeom>
          <a:solidFill>
            <a:srgbClr val="1F5F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11018520" y="5248655"/>
            <a:ext cx="9144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050" b="1">
                <a:solidFill>
                  <a:srgbClr val="15211D"/>
                </a:solidFill>
                <a:latin typeface="Calibri"/>
              </a:rPr>
              <a:t>1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355080" y="5614415"/>
            <a:ext cx="36576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77857E"/>
                </a:solidFill>
                <a:latin typeface="Calibri"/>
              </a:rPr>
              <a:t>10.2 Violência física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1018520" y="5605271"/>
            <a:ext cx="9144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050" b="1">
                <a:solidFill>
                  <a:srgbClr val="15211D"/>
                </a:solidFill>
                <a:latin typeface="Calibri"/>
              </a:rPr>
              <a:t>0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777240" y="6181344"/>
            <a:ext cx="10607040" cy="457200"/>
          </a:xfrm>
          <a:prstGeom prst="roundRect">
            <a:avLst>
              <a:gd name="adj" fmla="val 3000"/>
            </a:avLst>
          </a:prstGeom>
          <a:solidFill>
            <a:srgbClr val="F6E9E4"/>
          </a:solidFill>
          <a:ln w="9525">
            <a:solidFill>
              <a:srgbClr val="A3462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960120" y="6300216"/>
            <a:ext cx="102412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A3462F"/>
                </a:solidFill>
                <a:latin typeface="Calibri"/>
              </a:rPr>
              <a:t>2 pendências em aberto · Caso em triagem. Status temporário com prazo de 7 dias, até 01/09/2026. A competência não fech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548640"/>
            <a:ext cx="91440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>
                <a:solidFill>
                  <a:srgbClr val="15211D"/>
                </a:solidFill>
                <a:latin typeface="Calibri"/>
              </a:rPr>
              <a:t>Pendências em aberto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051560"/>
            <a:ext cx="1060704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47554F"/>
                </a:solidFill>
                <a:latin typeface="Calibri"/>
              </a:rPr>
              <a:t>23 itens exigem ação antes do fechamento da competência.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77240" y="1627632"/>
            <a:ext cx="10607040" cy="365760"/>
          </a:xfrm>
          <a:prstGeom prst="roundRect">
            <a:avLst>
              <a:gd name="adj" fmla="val 3000"/>
            </a:avLst>
          </a:prstGeom>
          <a:solidFill>
            <a:srgbClr val="FAFBFA"/>
          </a:solidFill>
          <a:ln w="9525">
            <a:solidFill>
              <a:srgbClr val="E0E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32688" y="1719072"/>
            <a:ext cx="4572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1">
                <a:solidFill>
                  <a:srgbClr val="1F5F52"/>
                </a:solidFill>
                <a:latin typeface="Calibri"/>
              </a:rPr>
              <a:t>02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17320" y="1719072"/>
            <a:ext cx="21031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>
                <a:solidFill>
                  <a:srgbClr val="15211D"/>
                </a:solidFill>
                <a:latin typeface="Calibri"/>
              </a:rPr>
              <a:t>Iracema D. Bastos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11880" y="1719072"/>
            <a:ext cx="75895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>
                <a:solidFill>
                  <a:srgbClr val="47554F"/>
                </a:solidFill>
                <a:latin typeface="Calibri"/>
              </a:rPr>
              <a:t>Campo obrigatório em falta: Data e hora; Data de retorno ao domicílio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2048256"/>
            <a:ext cx="10607040" cy="365760"/>
          </a:xfrm>
          <a:prstGeom prst="roundRect">
            <a:avLst>
              <a:gd name="adj" fmla="val 3000"/>
            </a:avLst>
          </a:prstGeom>
          <a:solidFill>
            <a:srgbClr val="FAFBFA"/>
          </a:solidFill>
          <a:ln w="9525">
            <a:solidFill>
              <a:srgbClr val="E0E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32688" y="2139696"/>
            <a:ext cx="4572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1">
                <a:solidFill>
                  <a:srgbClr val="1F5F52"/>
                </a:solidFill>
                <a:latin typeface="Calibri"/>
              </a:rPr>
              <a:t>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17320" y="2139696"/>
            <a:ext cx="21031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>
                <a:solidFill>
                  <a:srgbClr val="15211D"/>
                </a:solidFill>
                <a:latin typeface="Calibri"/>
              </a:rPr>
              <a:t>Adalberto S. Nogueira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11880" y="2139696"/>
            <a:ext cx="75895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>
                <a:solidFill>
                  <a:srgbClr val="47554F"/>
                </a:solidFill>
                <a:latin typeface="Calibri"/>
              </a:rPr>
              <a:t>Internação classificada como evitável. Entra no numerador do indicador de evitabilidade e dispara revisão do pla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77240" y="2468880"/>
            <a:ext cx="10607040" cy="365760"/>
          </a:xfrm>
          <a:prstGeom prst="roundRect">
            <a:avLst>
              <a:gd name="adj" fmla="val 3000"/>
            </a:avLst>
          </a:prstGeom>
          <a:solidFill>
            <a:srgbClr val="FAFBFA"/>
          </a:solidFill>
          <a:ln w="9525">
            <a:solidFill>
              <a:srgbClr val="E0E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32688" y="2560320"/>
            <a:ext cx="4572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1">
                <a:solidFill>
                  <a:srgbClr val="1F5F52"/>
                </a:solidFill>
                <a:latin typeface="Calibri"/>
              </a:rP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17320" y="2560320"/>
            <a:ext cx="21031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>
                <a:solidFill>
                  <a:srgbClr val="15211D"/>
                </a:solidFill>
                <a:latin typeface="Calibri"/>
              </a:rPr>
              <a:t>Adalberto S. Nogueira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11880" y="2560320"/>
            <a:ext cx="75895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>
                <a:solidFill>
                  <a:srgbClr val="47554F"/>
                </a:solidFill>
                <a:latin typeface="Calibri"/>
              </a:rPr>
              <a:t>Campo obrigatório em falta: Data e hora; Data de retorno ao domicílio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77240" y="2889504"/>
            <a:ext cx="10607040" cy="365760"/>
          </a:xfrm>
          <a:prstGeom prst="roundRect">
            <a:avLst>
              <a:gd name="adj" fmla="val 3000"/>
            </a:avLst>
          </a:prstGeom>
          <a:solidFill>
            <a:srgbClr val="FAFBFA"/>
          </a:solidFill>
          <a:ln w="9525">
            <a:solidFill>
              <a:srgbClr val="E0E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32688" y="2980944"/>
            <a:ext cx="4572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1">
                <a:solidFill>
                  <a:srgbClr val="1F5F52"/>
                </a:solidFill>
                <a:latin typeface="Calibri"/>
              </a:rP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17320" y="2980944"/>
            <a:ext cx="21031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>
                <a:solidFill>
                  <a:srgbClr val="15211D"/>
                </a:solidFill>
                <a:latin typeface="Calibri"/>
              </a:rPr>
              <a:t>Firmino J. Aguiar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11880" y="2980944"/>
            <a:ext cx="75895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>
                <a:solidFill>
                  <a:srgbClr val="47554F"/>
                </a:solidFill>
                <a:latin typeface="Calibri"/>
              </a:rPr>
              <a:t>Alerta de revisão de caso enviado à diretoria médica. Disparado por óbito em até 48h da admissão ou classificado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77240" y="3310128"/>
            <a:ext cx="10607040" cy="365760"/>
          </a:xfrm>
          <a:prstGeom prst="roundRect">
            <a:avLst>
              <a:gd name="adj" fmla="val 3000"/>
            </a:avLst>
          </a:prstGeom>
          <a:solidFill>
            <a:srgbClr val="FAFBFA"/>
          </a:solidFill>
          <a:ln w="9525">
            <a:solidFill>
              <a:srgbClr val="E0E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32688" y="3401568"/>
            <a:ext cx="4572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1">
                <a:solidFill>
                  <a:srgbClr val="1F5F52"/>
                </a:solidFill>
                <a:latin typeface="Calibri"/>
              </a:rPr>
              <a:t>03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17320" y="3401568"/>
            <a:ext cx="21031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>
                <a:solidFill>
                  <a:srgbClr val="15211D"/>
                </a:solidFill>
                <a:latin typeface="Calibri"/>
              </a:rPr>
              <a:t>Firmino J. Aguiar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611880" y="3401568"/>
            <a:ext cx="75895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>
                <a:solidFill>
                  <a:srgbClr val="47554F"/>
                </a:solidFill>
                <a:latin typeface="Calibri"/>
              </a:rPr>
              <a:t>Campo obrigatório em falta: Diretivas antecipadas registradas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77240" y="3730752"/>
            <a:ext cx="10607040" cy="365760"/>
          </a:xfrm>
          <a:prstGeom prst="roundRect">
            <a:avLst>
              <a:gd name="adj" fmla="val 3000"/>
            </a:avLst>
          </a:prstGeom>
          <a:solidFill>
            <a:srgbClr val="FAFBFA"/>
          </a:solidFill>
          <a:ln w="9525">
            <a:solidFill>
              <a:srgbClr val="E0E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32688" y="3822191"/>
            <a:ext cx="4572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1">
                <a:solidFill>
                  <a:srgbClr val="1F5F52"/>
                </a:solidFill>
                <a:latin typeface="Calibri"/>
              </a:rPr>
              <a:t>03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417320" y="3822191"/>
            <a:ext cx="21031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>
                <a:solidFill>
                  <a:srgbClr val="15211D"/>
                </a:solidFill>
                <a:latin typeface="Calibri"/>
              </a:rPr>
              <a:t>Dulcinéia B. Rezende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11880" y="3822191"/>
            <a:ext cx="75895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>
                <a:solidFill>
                  <a:srgbClr val="47554F"/>
                </a:solidFill>
                <a:latin typeface="Calibri"/>
              </a:rPr>
              <a:t>Campo obrigatório em falta: Diretivas antecipadas registradas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77240" y="4151376"/>
            <a:ext cx="10607040" cy="365760"/>
          </a:xfrm>
          <a:prstGeom prst="roundRect">
            <a:avLst>
              <a:gd name="adj" fmla="val 3000"/>
            </a:avLst>
          </a:prstGeom>
          <a:solidFill>
            <a:srgbClr val="FAFBFA"/>
          </a:solidFill>
          <a:ln w="9525">
            <a:solidFill>
              <a:srgbClr val="E0E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32688" y="4242816"/>
            <a:ext cx="4572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1">
                <a:solidFill>
                  <a:srgbClr val="1F5F52"/>
                </a:solidFill>
                <a:latin typeface="Calibri"/>
              </a:rPr>
              <a:t>05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417320" y="4242816"/>
            <a:ext cx="21031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>
                <a:solidFill>
                  <a:srgbClr val="15211D"/>
                </a:solidFill>
                <a:latin typeface="Calibri"/>
              </a:rPr>
              <a:t>Firmino J. Aguiar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611880" y="4242816"/>
            <a:ext cx="75895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>
                <a:solidFill>
                  <a:srgbClr val="47554F"/>
                </a:solidFill>
                <a:latin typeface="Calibri"/>
              </a:rPr>
              <a:t>Análise causal vencida. O prazo é de 7 dias a partir da notificação — venceu em 24/08/2026.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777240" y="4572000"/>
            <a:ext cx="10607040" cy="365760"/>
          </a:xfrm>
          <a:prstGeom prst="roundRect">
            <a:avLst>
              <a:gd name="adj" fmla="val 3000"/>
            </a:avLst>
          </a:prstGeom>
          <a:solidFill>
            <a:srgbClr val="FAFBFA"/>
          </a:solidFill>
          <a:ln w="9525">
            <a:solidFill>
              <a:srgbClr val="E0E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32688" y="4663440"/>
            <a:ext cx="4572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1">
                <a:solidFill>
                  <a:srgbClr val="1F5F52"/>
                </a:solidFill>
                <a:latin typeface="Calibri"/>
              </a:rPr>
              <a:t>05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417320" y="4663440"/>
            <a:ext cx="21031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>
                <a:solidFill>
                  <a:srgbClr val="15211D"/>
                </a:solidFill>
                <a:latin typeface="Calibri"/>
              </a:rPr>
              <a:t>Firmino J. Aguiar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611880" y="4663440"/>
            <a:ext cx="75895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>
                <a:solidFill>
                  <a:srgbClr val="47554F"/>
                </a:solidFill>
                <a:latin typeface="Calibri"/>
              </a:rPr>
              <a:t>Campo obrigatório em falta: Data de conclusão da análise causal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777240" y="4992624"/>
            <a:ext cx="10607040" cy="365760"/>
          </a:xfrm>
          <a:prstGeom prst="roundRect">
            <a:avLst>
              <a:gd name="adj" fmla="val 3000"/>
            </a:avLst>
          </a:prstGeom>
          <a:solidFill>
            <a:srgbClr val="FAFBFA"/>
          </a:solidFill>
          <a:ln w="9525">
            <a:solidFill>
              <a:srgbClr val="E0E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32688" y="5084064"/>
            <a:ext cx="4572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1">
                <a:solidFill>
                  <a:srgbClr val="1F5F52"/>
                </a:solidFill>
                <a:latin typeface="Calibri"/>
              </a:rPr>
              <a:t>05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417320" y="5084064"/>
            <a:ext cx="21031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>
                <a:solidFill>
                  <a:srgbClr val="15211D"/>
                </a:solidFill>
                <a:latin typeface="Calibri"/>
              </a:rPr>
              <a:t>Marta L. Andrade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611880" y="5084064"/>
            <a:ext cx="75895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>
                <a:solidFill>
                  <a:srgbClr val="47554F"/>
                </a:solidFill>
                <a:latin typeface="Calibri"/>
              </a:rPr>
              <a:t>Campo obrigatório em falta: Data de conclusão da análise causal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777240" y="5413248"/>
            <a:ext cx="10607040" cy="365760"/>
          </a:xfrm>
          <a:prstGeom prst="roundRect">
            <a:avLst>
              <a:gd name="adj" fmla="val 3000"/>
            </a:avLst>
          </a:prstGeom>
          <a:solidFill>
            <a:srgbClr val="FAFBFA"/>
          </a:solidFill>
          <a:ln w="9525">
            <a:solidFill>
              <a:srgbClr val="E0E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932688" y="5504688"/>
            <a:ext cx="4572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1">
                <a:solidFill>
                  <a:srgbClr val="1F5F52"/>
                </a:solidFill>
                <a:latin typeface="Calibri"/>
              </a:rPr>
              <a:t>06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417320" y="5504688"/>
            <a:ext cx="21031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>
                <a:solidFill>
                  <a:srgbClr val="15211D"/>
                </a:solidFill>
                <a:latin typeface="Calibri"/>
              </a:rPr>
              <a:t>Neusa A. Prado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3611880" y="5504688"/>
            <a:ext cx="75895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>
                <a:solidFill>
                  <a:srgbClr val="47554F"/>
                </a:solidFill>
                <a:latin typeface="Calibri"/>
              </a:rPr>
              <a:t>Sem foto em 48h da implantação. O sistema gravou esta lesão como adquirida sob assistência. Anexar a foto datada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777240" y="5833872"/>
            <a:ext cx="10607040" cy="365760"/>
          </a:xfrm>
          <a:prstGeom prst="roundRect">
            <a:avLst>
              <a:gd name="adj" fmla="val 3000"/>
            </a:avLst>
          </a:prstGeom>
          <a:solidFill>
            <a:srgbClr val="FAFBFA"/>
          </a:solidFill>
          <a:ln w="9525">
            <a:solidFill>
              <a:srgbClr val="E0E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932688" y="5925312"/>
            <a:ext cx="4572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1">
                <a:solidFill>
                  <a:srgbClr val="1F5F52"/>
                </a:solidFill>
                <a:latin typeface="Calibri"/>
              </a:rPr>
              <a:t>06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417320" y="5925312"/>
            <a:ext cx="21031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>
                <a:solidFill>
                  <a:srgbClr val="15211D"/>
                </a:solidFill>
                <a:latin typeface="Calibri"/>
              </a:rPr>
              <a:t>Neusa A. Prado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3611880" y="5925312"/>
            <a:ext cx="75895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>
                <a:solidFill>
                  <a:srgbClr val="47554F"/>
                </a:solidFill>
                <a:latin typeface="Calibri"/>
              </a:rPr>
              <a:t>Campo obrigatório em falta: Foto datada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777240" y="6254496"/>
            <a:ext cx="10607040" cy="365760"/>
          </a:xfrm>
          <a:prstGeom prst="roundRect">
            <a:avLst>
              <a:gd name="adj" fmla="val 3000"/>
            </a:avLst>
          </a:prstGeom>
          <a:solidFill>
            <a:srgbClr val="FAFBFA"/>
          </a:solidFill>
          <a:ln w="9525">
            <a:solidFill>
              <a:srgbClr val="E0E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932688" y="6345936"/>
            <a:ext cx="4572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1">
                <a:solidFill>
                  <a:srgbClr val="1F5F52"/>
                </a:solidFill>
                <a:latin typeface="Calibri"/>
              </a:rPr>
              <a:t>06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417320" y="6345936"/>
            <a:ext cx="21031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>
                <a:solidFill>
                  <a:srgbClr val="15211D"/>
                </a:solidFill>
                <a:latin typeface="Calibri"/>
              </a:rPr>
              <a:t>Odete S. Maranhão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3611880" y="6345936"/>
            <a:ext cx="75895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>
                <a:solidFill>
                  <a:srgbClr val="47554F"/>
                </a:solidFill>
                <a:latin typeface="Calibri"/>
              </a:rPr>
              <a:t>Campo obrigatório em falta: Escala de Braden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777240" y="6729983"/>
            <a:ext cx="106070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77857E"/>
                </a:solidFill>
                <a:latin typeface="Calibri"/>
              </a:rPr>
              <a:t>e mais 11 pendências na aba Alertas da planilha.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548640"/>
            <a:ext cx="91440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>
                <a:solidFill>
                  <a:srgbClr val="15211D"/>
                </a:solidFill>
                <a:latin typeface="Calibri"/>
              </a:rPr>
              <a:t>O que vem do sistema atual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051560"/>
            <a:ext cx="1060704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47554F"/>
                </a:solidFill>
                <a:latin typeface="Calibri"/>
              </a:rPr>
              <a:t>Nenhuma função existente se perde na virada de modelo.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77240" y="1691640"/>
            <a:ext cx="10607040" cy="475488"/>
          </a:xfrm>
          <a:prstGeom prst="roundRect">
            <a:avLst>
              <a:gd name="adj" fmla="val 3000"/>
            </a:avLst>
          </a:prstGeom>
          <a:solidFill>
            <a:srgbClr val="FAFBFA"/>
          </a:solidFill>
          <a:ln w="9525">
            <a:solidFill>
              <a:srgbClr val="E0E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0120" y="1828800"/>
            <a:ext cx="25603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1">
                <a:solidFill>
                  <a:srgbClr val="15211D"/>
                </a:solidFill>
                <a:latin typeface="Calibri"/>
              </a:rPr>
              <a:t>Eventos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11880" y="1837944"/>
            <a:ext cx="75895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47554F"/>
                </a:solidFill>
                <a:latin typeface="Calibri"/>
              </a:rPr>
              <a:t>Filtro por intervalo da data de ocorrência, busca, ordenação e anexo de arquivo até 5 MB por registro.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2221992"/>
            <a:ext cx="10607040" cy="475488"/>
          </a:xfrm>
          <a:prstGeom prst="roundRect">
            <a:avLst>
              <a:gd name="adj" fmla="val 3000"/>
            </a:avLst>
          </a:prstGeom>
          <a:solidFill>
            <a:srgbClr val="FAFBFA"/>
          </a:solidFill>
          <a:ln w="9525">
            <a:solidFill>
              <a:srgbClr val="E0E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2359152"/>
            <a:ext cx="25603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1">
                <a:solidFill>
                  <a:srgbClr val="15211D"/>
                </a:solidFill>
                <a:latin typeface="Calibri"/>
              </a:rPr>
              <a:t>Pacientes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11880" y="2368296"/>
            <a:ext cx="75895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47554F"/>
                </a:solidFill>
                <a:latin typeface="Calibri"/>
              </a:rPr>
              <a:t>Cadastro, anexo de documento e histórico por paciente.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7240" y="2752344"/>
            <a:ext cx="10607040" cy="475488"/>
          </a:xfrm>
          <a:prstGeom prst="roundRect">
            <a:avLst>
              <a:gd name="adj" fmla="val 3000"/>
            </a:avLst>
          </a:prstGeom>
          <a:solidFill>
            <a:srgbClr val="FAFBFA"/>
          </a:solidFill>
          <a:ln w="9525">
            <a:solidFill>
              <a:srgbClr val="E0E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2889504"/>
            <a:ext cx="25603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1">
                <a:solidFill>
                  <a:srgbClr val="15211D"/>
                </a:solidFill>
                <a:latin typeface="Calibri"/>
              </a:rPr>
              <a:t>Pacientes inativos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11880" y="2898648"/>
            <a:ext cx="75895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47554F"/>
                </a:solidFill>
                <a:latin typeface="Calibri"/>
              </a:rPr>
              <a:t>Página própria, com motivo e data da inativação.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77240" y="3282696"/>
            <a:ext cx="10607040" cy="475488"/>
          </a:xfrm>
          <a:prstGeom prst="roundRect">
            <a:avLst>
              <a:gd name="adj" fmla="val 3000"/>
            </a:avLst>
          </a:prstGeom>
          <a:solidFill>
            <a:srgbClr val="FAFBFA"/>
          </a:solidFill>
          <a:ln w="9525">
            <a:solidFill>
              <a:srgbClr val="E0E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60120" y="3419856"/>
            <a:ext cx="25603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1">
                <a:solidFill>
                  <a:srgbClr val="15211D"/>
                </a:solidFill>
                <a:latin typeface="Calibri"/>
              </a:rPr>
              <a:t>Relatórios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11880" y="3429000"/>
            <a:ext cx="75895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47554F"/>
                </a:solidFill>
                <a:latin typeface="Calibri"/>
              </a:rPr>
              <a:t>Pivô mensal, evolução por período, exportação em PDF e recorte por operadora.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77240" y="3813048"/>
            <a:ext cx="10607040" cy="475488"/>
          </a:xfrm>
          <a:prstGeom prst="roundRect">
            <a:avLst>
              <a:gd name="adj" fmla="val 3000"/>
            </a:avLst>
          </a:prstGeom>
          <a:solidFill>
            <a:srgbClr val="FAFBFA"/>
          </a:solidFill>
          <a:ln w="9525">
            <a:solidFill>
              <a:srgbClr val="E0E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60120" y="3950208"/>
            <a:ext cx="25603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1">
                <a:solidFill>
                  <a:srgbClr val="15211D"/>
                </a:solidFill>
                <a:latin typeface="Calibri"/>
              </a:rPr>
              <a:t>Certificados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11880" y="3959352"/>
            <a:ext cx="75895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47554F"/>
                </a:solidFill>
                <a:latin typeface="Calibri"/>
              </a:rPr>
              <a:t>Layout de frente e verso, assinatura e geração para impressão.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77240" y="4343400"/>
            <a:ext cx="10607040" cy="475488"/>
          </a:xfrm>
          <a:prstGeom prst="roundRect">
            <a:avLst>
              <a:gd name="adj" fmla="val 3000"/>
            </a:avLst>
          </a:prstGeom>
          <a:solidFill>
            <a:srgbClr val="FAFBFA"/>
          </a:solidFill>
          <a:ln w="9525">
            <a:solidFill>
              <a:srgbClr val="E0E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60120" y="4480560"/>
            <a:ext cx="25603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1">
                <a:solidFill>
                  <a:srgbClr val="15211D"/>
                </a:solidFill>
                <a:latin typeface="Calibri"/>
              </a:rPr>
              <a:t>Registros do formulário público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611880" y="4489704"/>
            <a:ext cx="75895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47554F"/>
                </a:solidFill>
                <a:latin typeface="Calibri"/>
              </a:rPr>
              <a:t>Formulário público, fila de pendentes e vínculo manual ao paciente.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77240" y="4873752"/>
            <a:ext cx="10607040" cy="475488"/>
          </a:xfrm>
          <a:prstGeom prst="roundRect">
            <a:avLst>
              <a:gd name="adj" fmla="val 3000"/>
            </a:avLst>
          </a:prstGeom>
          <a:solidFill>
            <a:srgbClr val="FAFBFA"/>
          </a:solidFill>
          <a:ln w="9525">
            <a:solidFill>
              <a:srgbClr val="E0E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60120" y="5010912"/>
            <a:ext cx="25603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1">
                <a:solidFill>
                  <a:srgbClr val="15211D"/>
                </a:solidFill>
                <a:latin typeface="Calibri"/>
              </a:rPr>
              <a:t>Auditoria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611880" y="5020056"/>
            <a:ext cx="75895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47554F"/>
                </a:solidFill>
                <a:latin typeface="Calibri"/>
              </a:rPr>
              <a:t>Trilha completa por registro, com autor e data.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77240" y="5404104"/>
            <a:ext cx="10607040" cy="475488"/>
          </a:xfrm>
          <a:prstGeom prst="roundRect">
            <a:avLst>
              <a:gd name="adj" fmla="val 3000"/>
            </a:avLst>
          </a:prstGeom>
          <a:solidFill>
            <a:srgbClr val="FAFBFA"/>
          </a:solidFill>
          <a:ln w="9525">
            <a:solidFill>
              <a:srgbClr val="E0E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60120" y="5541264"/>
            <a:ext cx="25603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1">
                <a:solidFill>
                  <a:srgbClr val="15211D"/>
                </a:solidFill>
                <a:latin typeface="Calibri"/>
              </a:rPr>
              <a:t>Usuários e acesso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11880" y="5550408"/>
            <a:ext cx="75895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47554F"/>
                </a:solidFill>
                <a:latin typeface="Calibri"/>
              </a:rPr>
              <a:t>Login, perfis e controle de acesso por página.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77240" y="5934456"/>
            <a:ext cx="10607040" cy="475488"/>
          </a:xfrm>
          <a:prstGeom prst="roundRect">
            <a:avLst>
              <a:gd name="adj" fmla="val 3000"/>
            </a:avLst>
          </a:prstGeom>
          <a:solidFill>
            <a:srgbClr val="FAFBFA"/>
          </a:solidFill>
          <a:ln w="9525">
            <a:solidFill>
              <a:srgbClr val="E0E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60120" y="6071616"/>
            <a:ext cx="25603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1">
                <a:solidFill>
                  <a:srgbClr val="15211D"/>
                </a:solidFill>
                <a:latin typeface="Calibri"/>
              </a:rPr>
              <a:t>Notificações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611880" y="6080760"/>
            <a:ext cx="75895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47554F"/>
                </a:solidFill>
                <a:latin typeface="Calibri"/>
              </a:rPr>
              <a:t>Sino com contador, marcação de lido e link para o registro.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